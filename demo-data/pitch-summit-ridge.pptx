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651760"/>
            <a:ext cx="12188952" cy="1554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606040"/>
            <a:ext cx="12188952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206240"/>
            <a:ext cx="12188952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4864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SUMMIT RIDGE PORTFOLIO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INVESTMENT MEMORANDUM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 Multifamily Portfolio  ·  Sun Belt Markets  ·  2,847 Units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" y="2743200"/>
            <a:ext cx="225491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$473M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" y="3401568"/>
            <a:ext cx="22549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Enterprise Value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29230" y="2743200"/>
            <a:ext cx="225491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29230" y="3401568"/>
            <a:ext cx="22549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Cap Rate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67021" y="2743200"/>
            <a:ext cx="225491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967021" y="3401568"/>
            <a:ext cx="22549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404811" y="2743200"/>
            <a:ext cx="225491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404811" y="3401568"/>
            <a:ext cx="22549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Gross IRR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42602" y="2743200"/>
            <a:ext cx="225491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2.2x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842602" y="3401568"/>
            <a:ext cx="22549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Equity Multiple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443484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Properties  ·  Atlanta · Tampa · Charlotte · Nashville · Austin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626364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AXIS CAPITAL ADVISORS  ·  APRIL 2025  ·  STRICTLY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Rare Opportunity to Acquire Institutional Sun Belt Multifamily At Scale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8288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984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$473M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1810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12848" y="1188720"/>
            <a:ext cx="18288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12984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$166K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212848" y="1810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51376" y="1188720"/>
            <a:ext cx="18288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51376" y="12984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51376" y="1810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Cap Rate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89904" y="1188720"/>
            <a:ext cx="18288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12984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089904" y="1810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Stabilised Cap Rate (Yr 3)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28432" y="1188720"/>
            <a:ext cx="18288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8432" y="12984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93.4%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028432" y="1810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Occupancy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966960" y="1188720"/>
            <a:ext cx="18288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12984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966960" y="1810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Gross IRR (Base)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23317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Overview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2651760"/>
            <a:ext cx="6400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Summit Ridge Portfolio is a 2,847-unit, 14-property Class B multifamily portfolio diversified across five of the highest-growth Sun Belt MSAs: Atlanta, Tampa, Charlotte, Nashville, and Austin. The portfolio was assembled over 2018–2022 by a regional sponsor and is being offered as a single-portfolio monetisation event.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are well-located, operationally stable assets generating $24.6M LTM NOI at 93.4% occupancy. In-place rents average $1,420/month — 17.3% below current market of $1,716/month — representing a clear, capital-efficient mark-to-market revenue opportunity without reliance on speculative lease-up.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2331720"/>
          <a:ext cx="48463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Class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B Value-Add Multifamily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Atlanta · Tampa · Charlotte · Nashville · Austin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Price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$472.8M ($166,070 / unit)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LTV TL (SOFR+190) + 40% equity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Check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~$189M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Hold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years (2025–2030)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LOI Deadline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April 30,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INVEST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Pillars of a Compelling Value-Add Investment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5760720" cy="169164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201168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 Below-Market Rents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mark-to-market on renewal cycles — $296/month gap to market rents represents $10.1M annual NOI potential without capital deployment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5760720" cy="169164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188720"/>
            <a:ext cx="201168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32588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Unit ROC of 20.1%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1664208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renovations ($8,500/unit) generated +$142/month rent premium on completed units. 1,427 remaining units represent the core value-add pipeline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5760720" cy="169164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017520"/>
            <a:ext cx="201168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5468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Belt Secular Demand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493008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42,000 new households/year across portfolio MSAs; supply deliveries declining 28% in 2025 vs. 2024 peak — structural rent growth tailwind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3017520"/>
            <a:ext cx="5760720" cy="169164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017520"/>
            <a:ext cx="201168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15468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Day-One 5.2% In-Place Yield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3493008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clearing rate for institutional stabilised product (4.6–4.9%). Strong FCF supports full interest carry from close without cash-in calls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4846320"/>
            <a:ext cx="5760720" cy="169164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846320"/>
            <a:ext cx="201168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98348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Exit Paths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321808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sale to REIT or institution, property-by-property disposition, or UPREIT contribution. Sun Belt multifamily: $80B+ annual transaction volume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4846320"/>
            <a:ext cx="5760720" cy="169164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4846320"/>
            <a:ext cx="201168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98348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Alpha Available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5321808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 3 property managers → 1 operator saves $0.8M/year. Revenue mgmt software deployment targets additional 1.5% NOI improvement in Year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Across Five High-Growth Sun Belt MSAs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11612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48640"/>
                <a:gridCol w="548640"/>
                <a:gridCol w="822960"/>
                <a:gridCol w="914400"/>
                <a:gridCol w="914400"/>
                <a:gridCol w="731520"/>
                <a:gridCol w="82296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Portfolio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In-Place 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LTM NOI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Atlanta, 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$7.03M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Tampa, FL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$5.68M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Charlotte, 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Nashville, TN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Austin, TX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$24.61M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24612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vs. Market Rent by MSA ($/ month)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3566160"/>
            <a:ext cx="9372600" cy="347472"/>
          </a:xfrm>
          <a:prstGeom prst="rect">
            <a:avLst/>
          </a:prstGeom>
          <a:solidFill>
            <a:srgbClr val="DCE8F5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84080" y="3566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$1640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65760" y="3913632"/>
            <a:ext cx="7915275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6755" y="39136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In-Place: $1385  (−16% below market)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-548640" y="3566160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5760" y="4425696"/>
            <a:ext cx="10172700" cy="347472"/>
          </a:xfrm>
          <a:prstGeom prst="rect">
            <a:avLst/>
          </a:prstGeom>
          <a:solidFill>
            <a:srgbClr val="DCE8F5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84180" y="44256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$1780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5760" y="4773168"/>
            <a:ext cx="83439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55380" y="47731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In-Place: $1460  (−18% below market)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-548640" y="4425696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Tampa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65760" y="5285232"/>
            <a:ext cx="9658350" cy="347472"/>
          </a:xfrm>
          <a:prstGeom prst="rect">
            <a:avLst/>
          </a:prstGeom>
          <a:solidFill>
            <a:srgbClr val="DCE8F5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69830" y="52852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$1690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65760" y="5632704"/>
            <a:ext cx="7972425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83905" y="56327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In-Place: $1395  (−17% below market)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-548640" y="5285232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65760" y="6144768"/>
            <a:ext cx="10401300" cy="347472"/>
          </a:xfrm>
          <a:prstGeom prst="rect">
            <a:avLst/>
          </a:prstGeom>
          <a:solidFill>
            <a:srgbClr val="DCE8F5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812780" y="61447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$1820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65760" y="6492240"/>
            <a:ext cx="84582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69680" y="6492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In-Place: $1480  (−19% below market)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-548640" y="614476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Nashville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65760" y="7004304"/>
            <a:ext cx="9944100" cy="347472"/>
          </a:xfrm>
          <a:prstGeom prst="rect">
            <a:avLst/>
          </a:prstGeom>
          <a:solidFill>
            <a:srgbClr val="DCE8F5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355580" y="70043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$1740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65760" y="7351776"/>
            <a:ext cx="81153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26780" y="73517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In-Place: $1420  (−18% below market)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-548640" y="7004304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Belt Fundamentals Support Durable Rent Growth Through 2027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116128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05840"/>
                <a:gridCol w="1005840"/>
                <a:gridCol w="1097280"/>
                <a:gridCol w="1005840"/>
                <a:gridCol w="82296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 Population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2Y Pop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Med. HH Income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Unemployment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 Vacancy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Supply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Proj. Rent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Atlanta, 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$82,400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18,200 units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Tampa, FL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$74,800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11,400 units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Charlotte, 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10,600 units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Nashville, TN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$81,600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9,800 units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Austin, TX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$92,100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12,800 units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200400"/>
            <a:ext cx="5669280" cy="160020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331012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Influx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11480" y="3639312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MSAs added 847K net new residents in 2022–2024 — 3.2x the national average. Millennial and Gen Z household formation underpins demand for Class B rental product.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217920" y="3200400"/>
            <a:ext cx="5669280" cy="160020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331012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Diversification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355080" y="3639312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(Austin), financial services (Charlotte), healthcare (Nashville), and logistics (Atlanta) create resilient, multi-sector employment bases — reducing recessionary sensitivity vs. single-industry cities.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74320" y="4892040"/>
            <a:ext cx="5669280" cy="160020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500176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Normalization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11480" y="5330952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MF deliveries across target MSAs decline from 87,400 units (2024 peak) to an estimated 44,200 units by 2026 — a 49% reduction driven by higher construction costs and tighter construction lending. Vacancy expected to compress 80–120 bps.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217920" y="4892040"/>
            <a:ext cx="5669280" cy="160020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500176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 vs. Class A Spread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55080" y="5330952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 new-build rents average $2,100–$2,400/month — 22–29% premium to Summit Ridge market rents. This structural affordability gap insulates Class B from direct competition with new supply.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NOI Growth — $20.5M → $24.6M Over 3 Years (+8.4% CAGR)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71323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128016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2024 (LTM)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Potential 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Gross Income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$39.9M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OpEx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($19.4M)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($20.6M)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($21.7M)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of which: Property Mgmt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(consolidating)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of which: Insurance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+16.7% 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of which: Real Estate Tax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Operating Income (NOI)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 Margin (% EGI)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Per-Unit NOI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$7,199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$7,974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$8,643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589520" y="1097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Bridge: In-Place → Stabilised (Year 3)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0" y="1463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NOI (Base)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635240" y="1517904"/>
            <a:ext cx="3203294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884254" y="146304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$24.6M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589520" y="1938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Mark-to-Market Rents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635240" y="1993392"/>
            <a:ext cx="494818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75778" y="193852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$3.8M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589520" y="24140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Reno Premium (Ph II)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635240" y="2468880"/>
            <a:ext cx="312516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93476" y="241401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589520" y="288950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Ancillary Income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635240" y="2944368"/>
            <a:ext cx="65108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46068" y="288950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$0.5M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589520" y="33649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Mgmt Consolidation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635240" y="3419856"/>
            <a:ext cx="104172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85132" y="336499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$0.8M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589520" y="3840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RevMgmt Software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7635240" y="3895344"/>
            <a:ext cx="52086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33046" y="384048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$0.4M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589520" y="43159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Insurance Inflation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635240" y="4370832"/>
            <a:ext cx="65108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46068" y="431596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$0.5M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589520" y="479145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Tax Step-Ups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7635240" y="4846320"/>
            <a:ext cx="52086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33046" y="479145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$0.4M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589520" y="526694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Stabilised NOI (Yr 3)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635240" y="5321808"/>
            <a:ext cx="41148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795760" y="526694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$31.6M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 BUSINESS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$21.1M Targeted Capital Program Driving $31.6M Stabilised NOI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116128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554480"/>
                <a:gridCol w="1188720"/>
                <a:gridCol w="137160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/ 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CapEx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 Premium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Renovations (Phase II)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1,427 units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+$142/mo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Amenity Upgrades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properties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+$18/mo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Home / Package Lockers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2,847 units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+$12/mo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Exterior &amp; Curb Appeal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properties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 Maintenance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properties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Capital Program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+$172/mo avg.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246120"/>
            <a:ext cx="5669280" cy="160020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3337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Mgmt Consolidation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297680" y="33375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−$0.8M/yr cost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11480" y="3666744"/>
            <a:ext cx="539496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3 incumbent managers with single institutional operator. Fee reduction from 9.1% to 7.5% EGI = $0.8M/year savings. Centralised leasing, maintenance hub model, portfolio-wide revenue management deployment.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217920" y="3246120"/>
            <a:ext cx="5669280" cy="160020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3337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Mgmt Software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241280" y="333756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+$0.4–0.6M/yr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355080" y="3666744"/>
            <a:ext cx="539496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RealPage AI or equivalent dynamic pricing across all 14 assets. Comparable deployments: 1.5–2.5% NOI uplift through lease expiration staggering, real-time competitor rate monitoring, unit-type pricing optimisation.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74320" y="4937760"/>
            <a:ext cx="5669280" cy="160020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50292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Ancillary Income Expansion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97680" y="50292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+$0.5M/yr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11480" y="5358384"/>
            <a:ext cx="539496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RUBS expansion to 8 unenrolled properties (utility recovery 60% → 85%); structured parking ($30–50/mo); pet rent standardisation ($50/mo); package locker monetisation. Combined target: $500K NOI by end of Year 1.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217920" y="4937760"/>
            <a:ext cx="5669280" cy="160020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50292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Appeal Strategy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241280" y="50292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$280–420K/yr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355080" y="5358384"/>
            <a:ext cx="539496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tax counsel engaged in Atlanta and Tampa — assessments appear 12–18% above FMV. 50% probability of success = $280K–$420K permanent tax reduction per annum.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STRUCTURE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60% LTV with Strong Day-One DSCR of 1.24x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116128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777240"/>
                <a:gridCol w="1280160"/>
                <a:gridCol w="777240"/>
                <a:gridCol w="365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/ Spread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Term Loan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$283.7M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SOFR + 190 bps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5+1+1 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 Yr 1–2; rate cap SOFR @ 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Revolving Credit Facility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SOFR + 210 bps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&amp; working capital; undrawn at close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 LP Equity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$189.1M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Commingled RE fund; management co-invest 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$487.8M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8803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Coverage Metrics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00400"/>
          <a:ext cx="116128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  <a:gridCol w="1188720"/>
                <a:gridCol w="173736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Close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 (Stabilised)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Covenant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 Ratio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70.0%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DSCR (NOI / Debt Service)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1.59x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1.20x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Coverage (NOI / Interest)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2.27x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1.50x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 Occupancy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Stack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4983480"/>
            <a:ext cx="4169664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983480"/>
            <a:ext cx="4169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TL: $283.7M (60%)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443984" y="4983480"/>
            <a:ext cx="2779776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43984" y="4983480"/>
            <a:ext cx="2779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Equity: $189.1M (40%)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74320" y="576072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 risk partially mitigated by 3-year rate cap (SOFR @ 6.0%). Floating rate loan assumption: SOFR 4.85% declining to 4.20% by Year 2. Refinancing risk in Years 4–5 is the primary macro sensitivity in the bear case scenario.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18.5% Gross IRR / 2.2x MOIC — Exceeds 20% in Bull Scenario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011680"/>
                <a:gridCol w="192024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Upside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 CAGR (Yr 1–5)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 NOI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$28.4M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$31.6M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$34.8M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$37.9M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Cap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Exit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$516M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$608M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$710M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$824M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IRR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Multiple (MOIC)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5Y Cash Yield (avg.)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474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Cap Rate Sensitivity — Gross IRR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79476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43000"/>
                <a:gridCol w="114300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Cap Rate ↓ / Hold →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  (Base)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217920" y="34747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Return Drivers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217920" y="3794760"/>
            <a:ext cx="566928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55080" y="386791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Growth (est. 50% of returns)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355080" y="4160520"/>
            <a:ext cx="5394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$7.0M NOI improvement → primary value driver; driven by mark-to-market rents + reno premium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217920" y="4754880"/>
            <a:ext cx="566928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55080" y="482803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Paydown (est. 15%)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355080" y="5120640"/>
            <a:ext cx="5394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reduction from $283.7M → ~$238M over 5 years at 6.2% NOI CAGR and IO structure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17920" y="5715000"/>
            <a:ext cx="566928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55080" y="578815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Arbitrage (est. 35%)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355080" y="6080760"/>
            <a:ext cx="5394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at 5.2% in-place vs. projected exit at 5.2% stabilised. Operational improvements can compress exit cap rate further in bull case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Identified — Strong Mitigants in Place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116128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206240"/>
                <a:gridCol w="3749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Concern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Rate 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SOFR-linked debt; 100bps rise above rate cap = $2.8M interest cost; DSCR 1.08x at stress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3-yr rate cap at SOFR 6.0%; strong NOI growth provides cushion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Inflation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Belt premiums up 28–42% in 2023–24; modelled at +8%/yr — further rises compress NOI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Portfolio-wide bulk bid; parametric insurance review underway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Renovation 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overruns or delays reduce ROC from 20.1% to 16.8% and delay rent premium capture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Fixed-price contracts with 3 pre-qualified regional contractors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Pressure (Austin/Nashville)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8,200 + 9,800 new units in 2025 above historical average — localised concession pressure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27.6% of portfolio; Class B insulated from Class A supply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Reassessment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price could trigger reassessment in GA/FL — modelled at +4.7%/yr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appeal counsel engaged; acquisition structure may limit exposure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/ Recession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 shock reduces renter demand, increases delinquency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 occupancy 81.2% at close; 12.4% IRR even in bear case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580644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returns of 18.5% gross IRR remain above the firm's 15% minimum threshold in all modelled scenarios except a simultaneous interest rate + insurance shock coinciding with exit multiple compression — an event with estimated 5–8% historical probability in Sun Belt real estate cycles.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TRACK RECORD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Capital Advisors — $2.4B AUM · 21.4% Realised IRR Across 4 Funds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116128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8595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Thornton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Managing Partner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Former VP Acquisitions, Equity Residential · $4.2B career transaction volume · MBA Wharton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Sarah Chen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Partner, Investments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Former Greystar acquisition director · Led 7 Sun Belt value-add exits · 22.1% average IRR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Marcus Webb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MD, Asset Mgmt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Former AvalonBay · Implemented RevMgmt across 8,200 units · 14% NOI lift on comparable portfolio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Jennifer Park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Finance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Former Wells Fargo CMBS · $1.8B closed multifamily debt · Key lender relationships across 6 major banks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Carlos Rivera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Construction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$180M renovation programs managed · Zero cost overruns &gt;8% on last 6 projects · 200+ contractor relationships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5204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Realised Investments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840480"/>
          <a:ext cx="116128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685800"/>
                <a:gridCol w="822960"/>
                <a:gridCol w="685800"/>
                <a:gridCol w="914400"/>
                <a:gridCol w="731520"/>
                <a:gridCol w="10515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IRR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Palmetto Sun Portfolio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 / 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Value-Add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 District Portfolio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/ 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Value-Add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Gulf Coast Communities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Value-Add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Sunbelt Workforce Fund 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0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Core-Plus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/ Wtd. Avg.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572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Summit Ridge Portfolio — Path to LOI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084832" cy="2926080"/>
          </a:xfrm>
          <a:prstGeom prst="rect">
            <a:avLst/>
          </a:prstGeom>
          <a:solidFill>
            <a:srgbClr val="1A3A5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208483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NDA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19019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full financial model, rent rolls, and property-level DD package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06624" y="1828800"/>
            <a:ext cx="2084832" cy="2926080"/>
          </a:xfrm>
          <a:prstGeom prst="rect">
            <a:avLst/>
          </a:prstGeom>
          <a:solidFill>
            <a:srgbClr val="1A3A5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06624" y="1828800"/>
            <a:ext cx="208483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6624" y="18288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98064" y="23774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Presentation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98064" y="2926080"/>
            <a:ext cx="19019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visits available: Atlanta · Nashville · Austin (April 22–24)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98064" y="438912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22–24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56048" y="1828800"/>
            <a:ext cx="2084832" cy="2926080"/>
          </a:xfrm>
          <a:prstGeom prst="rect">
            <a:avLst/>
          </a:prstGeom>
          <a:solidFill>
            <a:srgbClr val="1A3A5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1828800"/>
            <a:ext cx="208483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8288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47488" y="23774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LOI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47488" y="2926080"/>
            <a:ext cx="19019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Non-binding letter of intent with proposed terms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47488" y="438912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30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05472" y="1828800"/>
            <a:ext cx="2084832" cy="2926080"/>
          </a:xfrm>
          <a:prstGeom prst="rect">
            <a:avLst/>
          </a:prstGeom>
          <a:solidFill>
            <a:srgbClr val="1A3A5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05472" y="1828800"/>
            <a:ext cx="208483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5472" y="18288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96912" y="23774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Final Round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96912" y="2926080"/>
            <a:ext cx="19019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pricing and LOI from shortlisted bidders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296912" y="438912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454896" y="1828800"/>
            <a:ext cx="2084832" cy="2926080"/>
          </a:xfrm>
          <a:prstGeom prst="rect">
            <a:avLst/>
          </a:prstGeom>
          <a:solidFill>
            <a:srgbClr val="1A3A5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54896" y="1828800"/>
            <a:ext cx="208483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54896" y="18288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46336" y="237744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Close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546336" y="2926080"/>
            <a:ext cx="19019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 lender confirmation and standard PE approvals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546336" y="438912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30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14400" y="4937760"/>
            <a:ext cx="10332720" cy="1463040"/>
          </a:xfrm>
          <a:prstGeom prst="rect">
            <a:avLst/>
          </a:prstGeom>
          <a:solidFill>
            <a:srgbClr val="1A3A5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9834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14400" y="5285232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Chen, Partner  ·  s.chen@axiscapitaladvisors.com  ·  +1 (404) 555-0182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Jennifer Park, VP Finance  ·  j.park@axiscapitaladvisors.com  ·  +1 (404) 555-0194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Capital Advisors  ·  1180 Peachtree St NE, Suite 2400, Atlanta, GA 30309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Summit Ridge Portfolio — Investment Memorandum</dc:title>
  <dc:subject>PptxGenJS Presentation</dc:subject>
  <dc:creator>Axis Capital Advisors</dc:creator>
  <cp:lastModifiedBy>Axis Capital Advisors</cp:lastModifiedBy>
  <cp:revision>1</cp:revision>
  <dcterms:created xsi:type="dcterms:W3CDTF">2026-04-19T13:13:50Z</dcterms:created>
  <dcterms:modified xsi:type="dcterms:W3CDTF">2026-04-19T13:13:50Z</dcterms:modified>
</cp:coreProperties>
</file>
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9144000" cy="9144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657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STRICTLY CONFIDENTIAL — FOR AUTHORIZED RECIPIENTS ONLY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8A84B"/>
                </a:solidFill>
              </a:rPr>
              <a:t>PROJECT APEX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VERTEX SPECIALTY CHEMICALS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743200" y="2423160"/>
            <a:ext cx="3657600" cy="4572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32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D49A"/>
                </a:solidFill>
              </a:rPr>
              <a:t>INVESTOR 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Carve-out from GlobalChem Industries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1920240" cy="804672"/>
          </a:xfrm>
          <a:prstGeom prst="rect">
            <a:avLst/>
          </a:prstGeom>
          <a:solidFill>
            <a:srgbClr val="162E47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387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</a:rPr>
              <a:t>~$512M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Enterprise Value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3493008"/>
            <a:ext cx="1920240" cy="804672"/>
          </a:xfrm>
          <a:prstGeom prst="rect">
            <a:avLst/>
          </a:prstGeom>
          <a:solidFill>
            <a:srgbClr val="162E47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5387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</a:rPr>
              <a:t>$320M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146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FY2024 Revenue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3493008"/>
            <a:ext cx="1920240" cy="804672"/>
          </a:xfrm>
          <a:prstGeom prst="rect">
            <a:avLst/>
          </a:prstGeom>
          <a:solidFill>
            <a:srgbClr val="162E47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5387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</a:rPr>
              <a:t>20.0%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29400" y="3493008"/>
            <a:ext cx="1920240" cy="804672"/>
          </a:xfrm>
          <a:prstGeom prst="rect">
            <a:avLst/>
          </a:prstGeom>
          <a:solidFill>
            <a:srgbClr val="162E47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5387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84B"/>
                </a:solidFill>
              </a:rPr>
              <a:t>8.0x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EV / EBITDA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Houston, TX  |  Founded 1995  |  1,850 Employees  |  3 Manufacturing Plants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47 Proprietary Formulations  |  18 Active Patents  |  Aerospace/Defense Qualified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51389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A84B"/>
                </a:solidFill>
              </a:rPr>
              <a:t>April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Investment Highlights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Six compelling pillars supporting the Project Apex investment thesis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" y="914400"/>
            <a:ext cx="2816352" cy="246888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" y="914400"/>
            <a:ext cx="28163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" y="10058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1. Carve-out Value Unlock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" y="138988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$10.5M+ overhead eliminated at separation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Contract repricing of below-market accounts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590bps EBITDA margin expansion to FY2027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26664" y="914400"/>
            <a:ext cx="2816352" cy="246888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26664" y="914400"/>
            <a:ext cx="28163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3118104" y="10058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2. Defensible Market Position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18104" y="138988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47 proprietary formulations; 18 active patents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Aerospace qualification = 2-4yr entry barrier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Specified by name in 14 OEM material specs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34456" y="914400"/>
            <a:ext cx="2816352" cy="246888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4456" y="914400"/>
            <a:ext cx="28163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6025896" y="10058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3. High-Growth End Markets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25896" y="138988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Automotive lightweighting (EV): 8-10% CAGR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Aerospace composites: 9-11% CAGR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Advanced electronics (5G): 7-9% CAGR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8872" y="3474720"/>
            <a:ext cx="2816352" cy="246888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" y="3474720"/>
            <a:ext cx="28163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" y="35661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4. Proven Management Team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" y="39502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CEO: ex-BASF North America President, 30yrs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CFO: led 4 prior carve-outs at LyondellBasell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CRO: MIT PhD; inventor on 12 of 18 patents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26664" y="3474720"/>
            <a:ext cx="2816352" cy="246888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26664" y="3474720"/>
            <a:ext cx="28163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3118104" y="35661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5. Consistent FCF Generation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18104" y="39502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FCF positive every year since 2008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FY2024 FCF: $48.8M (15.3% FCF margin)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FY2027E FCF: $88M — strong deleveraging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34456" y="3474720"/>
            <a:ext cx="2816352" cy="246888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34456" y="3474720"/>
            <a:ext cx="2816352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0" name="Text 28"/>
          <p:cNvSpPr/>
          <p:nvPr/>
        </p:nvSpPr>
        <p:spPr>
          <a:xfrm>
            <a:off x="6025896" y="35661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</a:rPr>
              <a:t>6. Regulatory Tailwinds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25896" y="39502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EU REACH PFAS ban drives specialty coatings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U.S. EPA TSCA reform accelerates specialty shift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DoD domestic materials initiative supports Vertex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Company Snapshot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Vertex Specialty Chemicals at a glance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0D2137"/>
                </a:solidFill>
              </a:rPr>
              <a:t>Company Profile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52144"/>
            <a:ext cx="3840480" cy="34747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978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Founded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11978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1995, Houston TX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531620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773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Employees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15773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1,850 FTE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911096"/>
            <a:ext cx="3840480" cy="34747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568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Plants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00200" y="19568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3 owned facilities (TX, LA, TX)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290572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62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Capacity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00200" y="23362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485,000 sq ft total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670048"/>
            <a:ext cx="3840480" cy="34747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157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Products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2715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3 lines; 47 proprietary formulations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049524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952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Patents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00200" y="30952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18 active; 6 pending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3840480" cy="34747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74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Certifications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00200" y="34747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ISO 9001, AS9100D, NADCAP, IATF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808476"/>
            <a:ext cx="3840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541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Customers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00200" y="385419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~340 globally; long-term relationships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187952"/>
            <a:ext cx="3840480" cy="34747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336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Parent (current)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00200" y="42336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GlobalChem Industries (divesting)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0" y="8686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0D2137"/>
                </a:solidFill>
              </a:rPr>
              <a:t>Financial Summary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1152144"/>
            <a:ext cx="4297680" cy="393192"/>
          </a:xfrm>
          <a:prstGeom prst="rect">
            <a:avLst/>
          </a:prstGeom>
          <a:solidFill>
            <a:srgbClr val="0D213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21615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Metric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26480" y="121615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40880" y="121615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5280" y="121615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1581912"/>
            <a:ext cx="42976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164592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Revenue ($M)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26480" y="164592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$274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40880" y="164592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$296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55280" y="164592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$320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0" y="2011680"/>
            <a:ext cx="429768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075688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Gross Margin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0" y="207568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41.0%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40880" y="207568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41.3%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955280" y="207568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42.0%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0" y="2441448"/>
            <a:ext cx="42976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250545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EBITDA ($M)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26480" y="25054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$50.6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40880" y="25054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$57.4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955280" y="250545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$64.0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2871216"/>
            <a:ext cx="429768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293522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26480" y="293522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18.5%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040880" y="293522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19.4%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955280" y="293522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20.0%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0" y="3300984"/>
            <a:ext cx="42976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63440" y="336499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FCF ($M)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26480" y="336499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$38.5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040880" y="336499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$43.6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955280" y="336499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$48.8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0" y="3877056"/>
            <a:ext cx="4297680" cy="960120"/>
          </a:xfrm>
          <a:prstGeom prst="rect">
            <a:avLst/>
          </a:prstGeom>
          <a:solidFill>
            <a:srgbClr val="162E47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393192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84B"/>
                </a:solidFill>
              </a:rPr>
              <a:t>Transaction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Enterprise Value: ~$512M  |  1.6x Revenue, 8.0x EBITDA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Structure: Negotiated carve-out from GlobalChem Industries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Expected Close: Q2 2025  |  Advisor: Goldman Sachs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Products &amp; Technology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3 high-margin specialty product lines | 47 formulations | 18 patents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868680"/>
            <a:ext cx="2834640" cy="425196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868680"/>
            <a:ext cx="2834640" cy="640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" y="932688"/>
            <a:ext cx="283464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Advanced Polymer Additives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127101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49A"/>
                </a:solidFill>
              </a:rPr>
              <a:t>$144M  |  45% of 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55064"/>
            <a:ext cx="2651760" cy="256032"/>
          </a:xfrm>
          <a:prstGeom prst="rect">
            <a:avLst/>
          </a:prstGeom>
          <a:solidFill>
            <a:srgbClr val="E8D49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655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Gross Margin: 47%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" y="1984248"/>
            <a:ext cx="261518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Description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Heat stabilizers, UV absorbers, antioxidants, processing aids. 21 proprietary additive packages.
</a:t>
            </a:r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End Markets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Automotive, Aerospace, Industrial
</a:t>
            </a:r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Key IP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7 patents (VX-Series heat stabilizers, AeroShield UV line)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36392" y="868680"/>
            <a:ext cx="2834640" cy="425196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36392" y="868680"/>
            <a:ext cx="2834640" cy="640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6392" y="932688"/>
            <a:ext cx="2834640" cy="640080"/>
          </a:xfrm>
          <a:prstGeom prst="rect">
            <a:avLst/>
          </a:prstGeom>
          <a:solidFill>
            <a:srgbClr val="1A3A55"/>
          </a:solidFill>
          <a:ln/>
        </p:spPr>
      </p:sp>
      <p:sp>
        <p:nvSpPr>
          <p:cNvPr id="19" name="Text 17"/>
          <p:cNvSpPr/>
          <p:nvPr/>
        </p:nvSpPr>
        <p:spPr>
          <a:xfrm>
            <a:off x="3227832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Specialty Coatings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27832" y="127101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49A"/>
                </a:solidFill>
              </a:rPr>
              <a:t>$112M  |  35% of Revenue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27832" y="1655064"/>
            <a:ext cx="2651760" cy="256032"/>
          </a:xfrm>
          <a:prstGeom prst="rect">
            <a:avLst/>
          </a:prstGeom>
          <a:solidFill>
            <a:srgbClr val="E8D49A"/>
          </a:solidFill>
          <a:ln/>
        </p:spPr>
      </p:sp>
      <p:sp>
        <p:nvSpPr>
          <p:cNvPr id="22" name="Text 20"/>
          <p:cNvSpPr/>
          <p:nvPr/>
        </p:nvSpPr>
        <p:spPr>
          <a:xfrm>
            <a:off x="3227832" y="1655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Gross Margin: 40%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1984248"/>
            <a:ext cx="261518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Description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Extreme-environment topcoats: aerospace, automotive corrosion protection, electronics conformal.
</a:t>
            </a:r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End Markets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Automotive, Aerospace, Electronics
</a:t>
            </a:r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Key IP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8 patents (CoatPro industrial, AeroGuard aerospace)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35624" y="868680"/>
            <a:ext cx="2834640" cy="425196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868680"/>
            <a:ext cx="2834640" cy="640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35624" y="932688"/>
            <a:ext cx="2834640" cy="640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7" name="Text 25"/>
          <p:cNvSpPr/>
          <p:nvPr/>
        </p:nvSpPr>
        <p:spPr>
          <a:xfrm>
            <a:off x="6227064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Performance Resins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127101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49A"/>
                </a:solidFill>
              </a:rPr>
              <a:t>$64M  |  20% of Revenue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27064" y="1655064"/>
            <a:ext cx="2651760" cy="256032"/>
          </a:xfrm>
          <a:prstGeom prst="rect">
            <a:avLst/>
          </a:prstGeom>
          <a:solidFill>
            <a:srgbClr val="E8D49A"/>
          </a:solidFill>
          <a:ln/>
        </p:spPr>
      </p:sp>
      <p:sp>
        <p:nvSpPr>
          <p:cNvPr id="30" name="Text 28"/>
          <p:cNvSpPr/>
          <p:nvPr/>
        </p:nvSpPr>
        <p:spPr>
          <a:xfrm>
            <a:off x="6227064" y="1655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Gross Margin: 36%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45352" y="1984248"/>
            <a:ext cx="261518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Description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PCB laminates, electronic encapsulants, industrial adhesives. Highest customer switching costs.
</a:t>
            </a:r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End Markets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Electronics, Industrial
</a:t>
            </a:r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Key IP
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3 patents (VertexBond epoxy system)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7160" y="5239512"/>
            <a:ext cx="8869680" cy="868680"/>
          </a:xfrm>
          <a:prstGeom prst="rect">
            <a:avLst/>
          </a:prstGeom>
          <a:solidFill>
            <a:srgbClr val="162E47"/>
          </a:solidFill>
          <a:ln w="10160">
            <a:solidFill>
              <a:srgbClr val="C8A8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53035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</a:rPr>
              <a:t>R&amp;D Pipeline &amp; IP: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$11.2M R&amp;D investment (3.5% of revenue)  |  6 active pipeline projects with $48-74M revenue potential  |  </a:t>
            </a:r>
            <a:pPr indent="0" marL="0">
              <a:buNone/>
            </a:pPr>
            <a:r>
              <a:rPr lang="en-US" sz="850" i="1" dirty="0">
                <a:solidFill>
                  <a:srgbClr val="E8D49A"/>
                </a:solidFill>
              </a:rPr>
              <a:t>Post-carve-out target: 4.5% of revenue in R&amp;D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 Markets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Diversified exposure to four high-growth end markets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868680"/>
            <a:ext cx="4315968" cy="2633472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868680"/>
            <a:ext cx="64008" cy="263347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" y="868680"/>
            <a:ext cx="4315968" cy="6217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9144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Automotive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2161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30% of Revenue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54680" y="9052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B"/>
                </a:solidFill>
              </a:rPr>
              <a:t>$96M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54680" y="12344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8-10% CAGR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563624"/>
            <a:ext cx="40873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EV lightweighting demands 3-5x more specialty chemical content per vehicle vs. ICE. Battery encapsulants, structural adhesives, advanced coatings.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624328"/>
            <a:ext cx="4087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Key Driver: </a:t>
            </a:r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EV adoption, lightweighting mandates, OEM spec lock-in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868680"/>
            <a:ext cx="4315968" cy="2633472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868680"/>
            <a:ext cx="64008" cy="263347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9" name="Shape 17"/>
          <p:cNvSpPr/>
          <p:nvPr/>
        </p:nvSpPr>
        <p:spPr>
          <a:xfrm>
            <a:off x="4617720" y="868680"/>
            <a:ext cx="4315968" cy="6217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9144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Aerospace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2161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25% of Revenue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35240" y="9052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B"/>
                </a:solidFill>
              </a:rPr>
              <a:t>$80M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35240" y="12344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9-11% CAGR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1563624"/>
            <a:ext cx="40873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Next-gen composite airframes, satellite platforms, defense. Vertex holds AS9100D/NADCAP qualification across all major aerospace primes.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624328"/>
            <a:ext cx="4087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Key Driver: </a:t>
            </a:r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Composite airframe growth, space programs, DoD investment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7160" y="3630168"/>
            <a:ext cx="4315968" cy="2633472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" y="3630168"/>
            <a:ext cx="64008" cy="263347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" y="3630168"/>
            <a:ext cx="4315968" cy="6217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67588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Electronics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39776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22% of Revenue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54680" y="366674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B"/>
                </a:solidFill>
              </a:rPr>
              <a:t>$70.4M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154680" y="399592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7-9% CAGR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325112"/>
            <a:ext cx="40873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5G infrastructure PCB laminates, advanced chip packaging encapsulants, flexible electronics substrates. Highest switching costs in portfolio.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5385816"/>
            <a:ext cx="4087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Key Driver: </a:t>
            </a:r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5G rollout, AI chip packaging, advanced semiconductor materials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3630168"/>
            <a:ext cx="4315968" cy="2633472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630168"/>
            <a:ext cx="64008" cy="263347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7" name="Shape 35"/>
          <p:cNvSpPr/>
          <p:nvPr/>
        </p:nvSpPr>
        <p:spPr>
          <a:xfrm>
            <a:off x="4617720" y="3630168"/>
            <a:ext cx="4315968" cy="6217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67588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Industrial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39776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23% of Revenue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635240" y="366674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84B"/>
                </a:solidFill>
              </a:rPr>
              <a:t>$73.6M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35240" y="399592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4-6% CAGR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4325112"/>
            <a:ext cx="40873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Infrastructure coatings, energy transition equipment (wind, hydrogen), heavy industrial maintenance. Broadest customer base.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5385816"/>
            <a:ext cx="4087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Key Driver: </a:t>
            </a:r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Energy transition, infrastructure spending, PFAS substitution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Market Opportunity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Global specialty chemicals: $750B market with structural tailwinds across all three Vertex segments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869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Vertex's Addressable Market Segments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5212080" cy="438912"/>
          </a:xfrm>
          <a:prstGeom prst="rect">
            <a:avLst/>
          </a:prstGeom>
          <a:solidFill>
            <a:srgbClr val="0D213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52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Segment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252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Market Size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0" y="1252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CAGR (2024-30)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0" y="1252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Vertex Share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5212080" cy="43891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282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Polymer Additives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0" y="17282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$38B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0" y="17282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6.2%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17282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~0.38%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121408"/>
            <a:ext cx="52120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Specialty Coatings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86000" y="22037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$29B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2203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5.8%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~0.39%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596896"/>
            <a:ext cx="5212080" cy="43891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79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Performance Resins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86000" y="2679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$22B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83280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7.1%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0" y="26791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~0.29%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072384"/>
            <a:ext cx="5212080" cy="438912"/>
          </a:xfrm>
          <a:prstGeom prst="rect">
            <a:avLst/>
          </a:prstGeom>
          <a:solidFill>
            <a:srgbClr val="E8D49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54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Total Addressable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$89B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328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6.2%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~0.36%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60720" y="8869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Growth Catalysts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1170432"/>
            <a:ext cx="3200400" cy="74980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1170432"/>
            <a:ext cx="45720" cy="7498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7" name="Text 35"/>
          <p:cNvSpPr/>
          <p:nvPr/>
        </p:nvSpPr>
        <p:spPr>
          <a:xfrm>
            <a:off x="5779008" y="1225296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EV &amp; Lightweighting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EU 2035 ICE ban + U.S. IRA driving 8-10% p.a. specialty content growth in automotive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0" y="1984248"/>
            <a:ext cx="3200400" cy="74980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1984248"/>
            <a:ext cx="45720" cy="7498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0" name="Text 38"/>
          <p:cNvSpPr/>
          <p:nvPr/>
        </p:nvSpPr>
        <p:spPr>
          <a:xfrm>
            <a:off x="5779008" y="2039112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Aerospace Composites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Next-gen airframes 50%+ composite; Vertex qualified across Boeing, Airbus primes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2798064"/>
            <a:ext cx="3200400" cy="74980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2798064"/>
            <a:ext cx="45720" cy="7498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3" name="Text 41"/>
          <p:cNvSpPr/>
          <p:nvPr/>
        </p:nvSpPr>
        <p:spPr>
          <a:xfrm>
            <a:off x="5779008" y="2852928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5G &amp; Advanced Chips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AI/HPC packaging materials growing 15%+ annually; Vertex PCB laminates positioned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0" y="3611880"/>
            <a:ext cx="3200400" cy="74980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0" y="3611880"/>
            <a:ext cx="45720" cy="7498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6" name="Text 44"/>
          <p:cNvSpPr/>
          <p:nvPr/>
        </p:nvSpPr>
        <p:spPr>
          <a:xfrm>
            <a:off x="5779008" y="3666744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PFAS Regulation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EU REACH ban creating $12-15B demand shift to fluorine-free specialty alternatives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0" y="4425696"/>
            <a:ext cx="3200400" cy="74980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4425696"/>
            <a:ext cx="45720" cy="7498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9" name="Text 47"/>
          <p:cNvSpPr/>
          <p:nvPr/>
        </p:nvSpPr>
        <p:spPr>
          <a:xfrm>
            <a:off x="5779008" y="448056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DoD Supply Chain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Defense industrial base initiative creates preference for domestic aero-qualified suppliers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Financial Performance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Consistent growth | Expanding margins | Strong free cash flow generation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869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Historical Results (FY2022-FY2024)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5120640" cy="393192"/>
          </a:xfrm>
          <a:prstGeom prst="rect">
            <a:avLst/>
          </a:prstGeom>
          <a:solidFill>
            <a:srgbClr val="0D213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07008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Metric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1207008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24912" y="1207008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9584" y="1207008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34256" y="120700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CAGR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572768"/>
            <a:ext cx="512064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36776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Revenue ($M)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1636776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$274.0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24912" y="1636776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$296.0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9584" y="1636776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$320.0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34256" y="163677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8.0%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002536"/>
            <a:ext cx="5120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66544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Gross Margin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2066544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41.0%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24912" y="2066544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41.3%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9584" y="2066544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42.0%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34256" y="2066544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+100bps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432304"/>
            <a:ext cx="5120640" cy="393192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96312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EBITDA ($M)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20240" y="2496312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$50.6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24912" y="2496312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$57.4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29584" y="2496312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$64.0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34256" y="2496312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12.5%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862072"/>
            <a:ext cx="5120640" cy="393192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926080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20240" y="2926080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18.5%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24912" y="2926080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19.4%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29584" y="2926080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20.0%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34256" y="2926080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+150bps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291840"/>
            <a:ext cx="512064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55848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CapEx ($M)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20240" y="3355848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$12.1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24912" y="3355848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$13.8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29584" y="3355848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$15.2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34256" y="3355848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--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721608"/>
            <a:ext cx="5120640" cy="393192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785616"/>
            <a:ext cx="1554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FCF ($M)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920240" y="3785616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$38.5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24912" y="3785616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$43.6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29584" y="3785616"/>
            <a:ext cx="8046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$48.8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34256" y="3785616"/>
            <a:ext cx="9144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12.6%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77840" y="8869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Normalized EBITDA Bridge (FY2024)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1143000"/>
            <a:ext cx="32918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1207008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Reported EBITDA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89520" y="1207008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$64.0M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77840" y="1572768"/>
            <a:ext cx="329184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1636776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+ Corporate overhead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589520" y="1636776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+$10.5M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577840" y="2002536"/>
            <a:ext cx="32918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2066544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+ Shared services premium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589520" y="2066544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+$2.1M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77840" y="2432304"/>
            <a:ext cx="329184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2496312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+ Non-recurring items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589520" y="249631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+$1.4M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577840" y="2862072"/>
            <a:ext cx="32918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0" y="2926080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- Standalone costs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89520" y="2926080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-$3.8M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577840" y="3291840"/>
            <a:ext cx="3291840" cy="393192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3355848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- Commercial adjustments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589520" y="3355848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-$1.2M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577840" y="3721608"/>
            <a:ext cx="3291840" cy="393192"/>
          </a:xfrm>
          <a:prstGeom prst="rect">
            <a:avLst/>
          </a:prstGeom>
          <a:solidFill>
            <a:srgbClr val="E8D49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3785616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Normalized EBITDA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589520" y="3785616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$73.0M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577840" y="4151376"/>
            <a:ext cx="3291840" cy="393192"/>
          </a:xfrm>
          <a:prstGeom prst="rect">
            <a:avLst/>
          </a:prstGeom>
          <a:solidFill>
            <a:srgbClr val="E8D49A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69280" y="4215384"/>
            <a:ext cx="20116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Normalized Margin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89520" y="4215384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22.8%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4320" y="5120640"/>
            <a:ext cx="8595360" cy="914400"/>
          </a:xfrm>
          <a:prstGeom prst="rect">
            <a:avLst/>
          </a:prstGeom>
          <a:solidFill>
            <a:srgbClr val="162E47"/>
          </a:solidFill>
          <a:ln w="10160">
            <a:solidFill>
              <a:srgbClr val="C8A84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51846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</a:rPr>
              <a:t>Valuation Context: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At ~$512M EV, transaction implies 8.0x FY2024 EBITDA vs. specialty chemicals peers at 10-13x. </a:t>
            </a:r>
            <a:pPr indent="0" marL="0">
              <a:buNone/>
            </a:pPr>
            <a:r>
              <a:rPr lang="en-US" sz="850" i="1" dirty="0">
                <a:solidFill>
                  <a:srgbClr val="E8D49A"/>
                </a:solidFill>
              </a:rPr>
              <a:t>Carve-out discount + $73M normalized EBITDA represents significant upside on execution.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Carve-out Value Creation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Four quantifiable levers driving 590bps EBITDA margin expansion from 20.0% to 25.9% by FY2027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1298448" cy="1417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20.0%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FY2024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Reported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81912" y="137160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914400"/>
            <a:ext cx="1298448" cy="1417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10058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+1.8%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7276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Overhead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Removal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44952" y="137160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1298448" cy="1417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0058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+1.4%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157276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Contract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Repricing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07992" y="137160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1298448" cy="1417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058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+1.2%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157276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Lean Mfg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71032" y="137160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914400"/>
            <a:ext cx="1298448" cy="1417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0058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+1.5%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157276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Mix Shift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34072" y="1371600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89520" y="914400"/>
            <a:ext cx="1298448" cy="141732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10058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25.9%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89520" y="157276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</a:rPr>
              <a:t>FY2027E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</a:rPr>
              <a:t>Target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487168"/>
            <a:ext cx="8595360" cy="79552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487168"/>
            <a:ext cx="54864" cy="79552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54203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1. Corporate Overhead Removal (+1.8%)
</a:t>
            </a:r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GlobalChem allocates ~$10.5M/yr in corporate overhead. Separation eliminates this drag. Net standalone cost of $7.8M/yr = $2.7M net benefit immediately on close.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346704"/>
            <a:ext cx="8595360" cy="795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346704"/>
            <a:ext cx="54864" cy="79552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4015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2. Contract Repricing (+1.4%)
</a:t>
            </a:r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Customer A and B (24% combined revenue) negotiated under GlobalChem's pricing umbrella. Both expire 2025-2026. Management estimates 6-8% improvement: ~$7.5M incremental EBITDA.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206240"/>
            <a:ext cx="8595360" cy="795528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206240"/>
            <a:ext cx="54864" cy="79552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4261104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3. Lean Manufacturing COGS Reduction (+1.2%)
</a:t>
            </a:r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VP Operations Reid has identified $6-8M in savings across all plants via yield optimization (Baton Rouge), energy efficiency (Houston), procurement consolidation. Projects stalled in GlobalChem capex queue.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5065776"/>
            <a:ext cx="8595360" cy="79552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5065776"/>
            <a:ext cx="54864" cy="79552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5120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4. Product Mix Shift (+1.5%)
</a:t>
            </a:r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Post-carve-out R&amp;D expansion (3.5% to 4.5% of revenue) accelerates 6 pipeline projects. NanoCoat Elite (aerospace) and VX-Thermal Pro (EV) carry 50%+ gross margins — mix shift is accretive.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Growth Projections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FY2025E-FY2027E: 7.9% revenue CAGR | 17.6% EBITDA CAGR | Margin expansion to 25.9%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8778240" cy="448056"/>
          </a:xfrm>
          <a:prstGeom prst="rect">
            <a:avLst/>
          </a:prstGeom>
          <a:solidFill>
            <a:srgbClr val="0D213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Metric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48840" y="105156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FY2024A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05156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FY2025E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FY2026E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63640" y="105156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FY2027E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1051560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3yr CAGR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" y="1446581"/>
            <a:ext cx="8778240" cy="44805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4832" y="1446581"/>
            <a:ext cx="1371600" cy="448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538021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Revenue ($M)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48840" y="1538021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$320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1538021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$346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2040" y="1538021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$374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1538021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$402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35240" y="1538021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7.9%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1933042"/>
            <a:ext cx="87782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1933042"/>
            <a:ext cx="1371600" cy="448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24482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Revenue Growth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48840" y="202448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8.0%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0440" y="202448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8.1%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202448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8.1%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3640" y="202448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7.5%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35240" y="202448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--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2419502"/>
            <a:ext cx="8778240" cy="44805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4832" y="2419502"/>
            <a:ext cx="1371600" cy="448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2510942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Gross Profit ($M)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48840" y="251094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$134.4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20440" y="251094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$148.8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251094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$165.2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3640" y="251094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$181.7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35240" y="2510942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10.6%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2905963"/>
            <a:ext cx="877824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84832" y="2905963"/>
            <a:ext cx="1371600" cy="448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2997403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Gross Margin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148840" y="2997403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42.0%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20440" y="2997403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43.0%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2997403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44.2%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63640" y="2997403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45.2%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35240" y="2997403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+320bps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" y="3392424"/>
            <a:ext cx="8778240" cy="448056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84832" y="3392424"/>
            <a:ext cx="1371600" cy="448056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3483864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EBITDA ($M)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148840" y="348386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$64.0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520440" y="348386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$76.1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92040" y="348386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$90.2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63640" y="348386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$104.1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35240" y="3483864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17.6%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2880" y="3878885"/>
            <a:ext cx="8778240" cy="448056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84832" y="3878885"/>
            <a:ext cx="1371600" cy="448056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3970325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148840" y="3970325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20.0%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20440" y="3970325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22.0%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3970325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24.1%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63640" y="3970325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25.9%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635240" y="3970325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+590bps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82880" y="4365346"/>
            <a:ext cx="8778240" cy="44805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84832" y="4365346"/>
            <a:ext cx="1371600" cy="448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456786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CapEx ($M)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148840" y="445678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$15.2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520440" y="445678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$17.3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892040" y="445678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$18.7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263640" y="445678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$16.1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635240" y="445678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--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82880" y="4851806"/>
            <a:ext cx="8778240" cy="448056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84832" y="4851806"/>
            <a:ext cx="1371600" cy="448056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" y="4943246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FCF ($M)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148840" y="494324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$48.8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520440" y="494324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$58.8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92040" y="494324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$71.5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63640" y="494324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$88.0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635240" y="4943246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21.6%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82880" y="5338267"/>
            <a:ext cx="8778240" cy="448056"/>
          </a:xfrm>
          <a:prstGeom prst="rect">
            <a:avLst/>
          </a:prstGeom>
          <a:solidFill>
            <a:srgbClr val="162E4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84832" y="5338267"/>
            <a:ext cx="1371600" cy="448056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5429707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FCF Margin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148840" y="5429707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15.3%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520440" y="5429707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17.0%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892040" y="5429707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19.1%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263640" y="5429707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21.9%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635240" y="5429707"/>
            <a:ext cx="1371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+660bps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456432" y="960120"/>
            <a:ext cx="36576" cy="486460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Text 86"/>
          <p:cNvSpPr/>
          <p:nvPr/>
        </p:nvSpPr>
        <p:spPr>
          <a:xfrm>
            <a:off x="2103120" y="59253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44444"/>
                </a:solidFill>
              </a:rPr>
              <a:t>Historical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3520440" y="59253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44444"/>
                </a:solidFill>
              </a:rPr>
              <a:t>Projected (Post Carve-out)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74320" y="61447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CCCCC"/>
                </a:solidFill>
              </a:rPr>
              <a:t>Note: FY2025E reflects partial-year carve-out benefits; FY2026-27E assume full standalone operations.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Management Team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Experienced leadership with deep specialty chemicals and carve-out execution expertise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8778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877824"/>
            <a:ext cx="4297680" cy="67665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" y="877824"/>
            <a:ext cx="64008" cy="260604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" y="9326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Thomas Hargrove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" y="12252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Chief Executive Officer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5176" y="16276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Previous: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President, BASF North America  |  VP Chem Ops, Dow Chemical
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" y="20208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Credentials: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30 years specialty chemicals  |  MBA Wharton
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" y="2414016"/>
            <a:ext cx="40782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Joined Vertex in 2018; drove EBITDA margins from 15.8% to 20.0% through operational rigor, customer portfolio optimization, and product mix management.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17720" y="8778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877824"/>
            <a:ext cx="4297680" cy="67665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7720" y="877824"/>
            <a:ext cx="64008" cy="260604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4745736" y="9326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Carolyn Walsh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12252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Chief Financial Officer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45736" y="16276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Previous: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VP Corporate Development, LyondellBasell  |  Led 4 carve-outs ($3.1B)
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45736" y="20208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Credentials: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25 years chemicals finance  |  CPA  |  MBA Chicago Booth
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5736" y="2414016"/>
            <a:ext cx="40782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Architect of the Project Apex financial and separation plan. Deep expertise in TSA structuring, carve-out accounting, and standalone entity setup.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37160" y="36210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" y="3621024"/>
            <a:ext cx="4297680" cy="67665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" y="3621024"/>
            <a:ext cx="64008" cy="260604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" y="36758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Dr. Eric Zhao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" y="39684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Chief R&amp;D Officer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5176" y="43708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Previous: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Research Director, 3M Specialty Materials  |  MIT PhD Chem Eng
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5176" y="47640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Credentials: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20 years R&amp;D leadership  |  Inventor on 12 of 18 Vertex patents
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5176" y="5157216"/>
            <a:ext cx="40782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Expanded formulation portfolio from 31 to 47 proprietary products. Leads 6 active pipeline programs with combined $48-74M annual revenue potential.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617720" y="36210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621024"/>
            <a:ext cx="4297680" cy="67665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7720" y="3621024"/>
            <a:ext cx="64008" cy="260604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5" name="Text 33"/>
          <p:cNvSpPr/>
          <p:nvPr/>
        </p:nvSpPr>
        <p:spPr>
          <a:xfrm>
            <a:off x="4745736" y="36758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Marcus Reid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45736" y="39684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49A"/>
                </a:solidFill>
              </a:rPr>
              <a:t>VP Operations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45736" y="43708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Previous: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Plant Director, Cabot Corporation  |  Six Sigma Black Belt
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45736" y="47640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Credentials: </a:t>
            </a:r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18 years plant operations  |  BS Industrial Engineering, Purdue
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45736" y="5157216"/>
            <a:ext cx="40782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444444"/>
                </a:solidFill>
              </a:rPr>
              <a:t>Implemented lean programs saving $8.4M/yr annually. Identified additional $6-8M in savings pending GlobalChem capex approval — unlocks immediately post-carve-out.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Investment Thesis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Four pillars underpinning the Project Apex investment rationale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" y="8778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877824"/>
            <a:ext cx="429768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969264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49A"/>
                </a:solidFill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0392" y="987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Carve-out Execution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12801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Unlock embedded value through separation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572768"/>
            <a:ext cx="41148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" y="1682496"/>
            <a:ext cx="4078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$10.5M overhead elimination at close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Contract repricing: ~$7.5M incremental EBITDA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CFO has led 4 prior carve-outs ($3.1B combined)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18-24mo TSA provides full operational bridge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Normalized FY2024 EBITDA: $73M (22.8% margin)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8778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877824"/>
            <a:ext cx="429768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969264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49A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30952" y="987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Technology &amp; IP Moat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30952" y="12801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Defensible IP with long qualification cycles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1572768"/>
            <a:ext cx="41148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1682496"/>
            <a:ext cx="4078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47 proprietary formulations + 18 active patents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Specified by name in 14 OEM material specifications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AS9100D/NADCAP aerospace qualification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2-4 year new entrant qualification barrier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6 pipeline projects: $48-74M revenue potential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37160" y="36210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3621024"/>
            <a:ext cx="429768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" y="3712464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49A"/>
                </a:solidFill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50392" y="37307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Market Positioning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" y="40233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Secular tailwinds in 3 high-growth end markets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" y="4315968"/>
            <a:ext cx="41148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8" name="Text 26"/>
          <p:cNvSpPr/>
          <p:nvPr/>
        </p:nvSpPr>
        <p:spPr>
          <a:xfrm>
            <a:off x="246888" y="4425696"/>
            <a:ext cx="4078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Addressable market: $89B at 6.2% CAGR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EV lightweighting: 3-5x specialty content per vehicle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Aerospace composites: 9-11% CAGR segment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PFAS regulation expands coatings addressable market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Consolidation platform: 2-3 bolt-on targets identified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3621024"/>
            <a:ext cx="4297680" cy="2606040"/>
          </a:xfrm>
          <a:prstGeom prst="rect">
            <a:avLst/>
          </a:prstGeom>
          <a:solidFill>
            <a:srgbClr val="F2F5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621024"/>
            <a:ext cx="429768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712464"/>
            <a:ext cx="594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D49A"/>
                </a:solidFill>
              </a:rPr>
              <a:t>04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330952" y="37307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Management &amp; FCF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40233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44"/>
                </a:solidFill>
              </a:rPr>
              <a:t>Proven team; FCF-generative at all cycle points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4315968"/>
            <a:ext cx="41148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Text 33"/>
          <p:cNvSpPr/>
          <p:nvPr/>
        </p:nvSpPr>
        <p:spPr>
          <a:xfrm>
            <a:off x="4727448" y="4425696"/>
            <a:ext cx="4078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CEO: ex-BASF North America President, 30yrs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CRO: MIT PhD; inventor on 12/18 patents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FCF positive every year since 2008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FY2027E FCF: $88M (21.9% FCF margin)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4"/>
                </a:solidFill>
              </a:rPr>
              <a:t>Strong deleveraging; bolt-on M&amp;A optionality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464808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VERTEX SPECIALTY CHEMICALS  |  PROJECT APEX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Transaction Summary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49A"/>
                </a:solidFill>
              </a:rPr>
              <a:t>Project Apex — Negotiated carve-out from GlobalChem Industries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869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Deal Parameters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52144"/>
            <a:ext cx="4251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161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Transaction Type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11680" y="1216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Negotiated carve-out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591056"/>
            <a:ext cx="4251960" cy="40233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5506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Enterprise Value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0" y="1655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~$512 million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4251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939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EV / Revenue (FY2024)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0939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1.6x ($320M)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4251960" cy="40233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328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EV / EBITDA (FY2024)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11680" y="2532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8.0x ($64M)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4251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71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EV / Norm. EBITDA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1168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7.0x ($73M)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4251960" cy="40233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107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Expected Close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11680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Q2 2025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785616"/>
            <a:ext cx="4251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496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TSA Duration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11680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18-24 months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4251960" cy="40233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8853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Process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11680" y="42885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Controlled auction; 6-8 sponsors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42519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274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Financial Advisor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11680" y="4727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Goldman Sachs &amp; Co. LLC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5102352"/>
            <a:ext cx="4251960" cy="402336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166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Legal Counsel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11680" y="5166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Sullivan &amp; Cromwell LLP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8869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Process Timeline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1152144"/>
            <a:ext cx="640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1207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84B"/>
                </a:solidFill>
              </a:rPr>
              <a:t>Q1 2025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32120" y="1152144"/>
            <a:ext cx="3337560" cy="640080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120700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PIoI Due April 30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Non-binding IOI with EV range and financing sources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38928" y="1792224"/>
            <a:ext cx="54864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1865376"/>
            <a:ext cx="640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84B"/>
                </a:solidFill>
              </a:rPr>
              <a:t>Q2 2025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532120" y="1865376"/>
            <a:ext cx="333756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192024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Mgmt Presentations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Full-day sessions at Houston HQ — week of May 12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138928" y="2505456"/>
            <a:ext cx="54864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2578608"/>
            <a:ext cx="640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84B"/>
                </a:solidFill>
              </a:rPr>
              <a:t>Q2 2025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532120" y="2578608"/>
            <a:ext cx="3337560" cy="640080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263347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Final Bids Due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Binding offers with signed Purchase Agreement — June 20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38928" y="3218688"/>
            <a:ext cx="54864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5" name="Shape 53"/>
          <p:cNvSpPr/>
          <p:nvPr/>
        </p:nvSpPr>
        <p:spPr>
          <a:xfrm>
            <a:off x="4846320" y="3291840"/>
            <a:ext cx="640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3467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84B"/>
                </a:solidFill>
              </a:rPr>
              <a:t>Q2 2025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532120" y="3291840"/>
            <a:ext cx="333756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23560" y="33467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Exclusivity / Sign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Targeted week of June 30, 2025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138928" y="3931920"/>
            <a:ext cx="54864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60" name="Shape 58"/>
          <p:cNvSpPr/>
          <p:nvPr/>
        </p:nvSpPr>
        <p:spPr>
          <a:xfrm>
            <a:off x="4846320" y="4005072"/>
            <a:ext cx="640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40599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84B"/>
                </a:solidFill>
              </a:rPr>
              <a:t>Q3 2025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532120" y="4005072"/>
            <a:ext cx="3337560" cy="640080"/>
          </a:xfrm>
          <a:prstGeom prst="rect">
            <a:avLst/>
          </a:prstGeom>
          <a:solidFill>
            <a:srgbClr val="F2F5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23560" y="4059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Expected Close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Subject to HSR and regulatory clearance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138928" y="4645152"/>
            <a:ext cx="54864" cy="73152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65" name="Shape 63"/>
          <p:cNvSpPr/>
          <p:nvPr/>
        </p:nvSpPr>
        <p:spPr>
          <a:xfrm>
            <a:off x="4846320" y="4718304"/>
            <a:ext cx="640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47731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84B"/>
                </a:solidFill>
              </a:rPr>
              <a:t>Q1 2027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532120" y="4718304"/>
            <a:ext cx="333756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23560" y="47731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2137"/>
                </a:solidFill>
              </a:rPr>
              <a:t>TSA Exit
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</a:rPr>
              <a:t>Full standalone operations; growth acceleration phase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5559552"/>
            <a:ext cx="859536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56144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</a:rPr>
              <a:t>Next Steps: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Execute NDA  |  Review full process letter  |  Submit PIoI by April 30, 2025  |  Contact Goldman Sachs deal team for data room access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Vertex Specialty Chemicals -- Project Apex Investor Presentation</dc:title>
  <dc:subject>Carve-out from GlobalChem Industries</dc:subject>
  <dc:creator>Goldman Sachs &amp; Co. LLC</dc:creator>
  <cp:lastModifiedBy>Goldman Sachs &amp; Co. LLC</cp:lastModifiedBy>
  <cp:revision>1</cp:revision>
  <dcterms:created xsi:type="dcterms:W3CDTF">2026-04-19T11:39:30Z</dcterms:created>
  <dcterms:modified xsi:type="dcterms:W3CDTF">2026-04-19T11:39:30Z</dcterms:modified>
</cp:coreProperties>
</file>
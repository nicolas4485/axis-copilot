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1874520"/>
            <a:ext cx="4572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Post-Acute Care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Information Memorandum  |  Project Pinnacle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834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Nashville, Tennessee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3081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3081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33284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Reference: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0" y="33284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— Platform Buyout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357530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3575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~$225M Enterprise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38221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Advisor: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3822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Evercore Healthcare Advisory Group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4069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2336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405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Highlights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Compelling Reasons to Invest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0624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54864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High-Growth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3441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$133M to $185M revenue in 3 years (18% CAGR); 10 net new facilities since 2020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Proprietary Clinical Tech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13441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ClinicalEdge: 30% lower readmission vs. national avg; 82% of facilities at 5-star CMS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420624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240280"/>
            <a:ext cx="54864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Medicare-Anchored Revenue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624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Medicare payor mix; $610/day avg rate vs. $570 national; VBP max bonus earner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Proven M&amp;A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2624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acquisitions since 2018; +350 bps avg EBITDA improvement; 8-target pipeline ($45M rev)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420624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520440"/>
            <a:ext cx="54864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Attractive Entry Valuation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39044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8.0x LTM EBITDA vs. public comps at 10-12x; meaningful discount to recent transactions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420624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520440"/>
            <a:ext cx="54864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Experienced Leadership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9044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22 yrs experience; ex-HCA, ex-Kindred; proven scale and integration capability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at a Glance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07592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07592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40864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0864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40864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74136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74136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74136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EBITDA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07408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407408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40680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73952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73952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Days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07224" y="896112"/>
            <a:ext cx="96012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07224" y="1719072"/>
            <a:ext cx="96012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07224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~$225M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507224" y="14264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004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History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251460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-4572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Brentwood TN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11680" y="251460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0020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 &amp; GA Entry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57600" y="251460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4612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ClinicalEdge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303520" y="251460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9204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CMS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Response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949440" y="251460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3796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$133M Rev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Facilities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595360" y="251460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18388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 Rev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Facilities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200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Payor Mix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20040" y="3383280"/>
            <a:ext cx="527243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383280"/>
            <a:ext cx="52724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92470" y="3383280"/>
            <a:ext cx="2381098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92470" y="3383280"/>
            <a:ext cx="2381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73568" y="3383280"/>
            <a:ext cx="850392" cy="4114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73568" y="3383280"/>
            <a:ext cx="850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Platform &amp; Services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ClinicalEdge: Proprietary Outcomes Management Technology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65760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872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34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Rehab (SNF)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234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Rev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142646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facilities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3736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83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17830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Rev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19751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facilities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365760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28600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331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331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Rev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252374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facilities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34640"/>
            <a:ext cx="54864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880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Cardiac/Pulm. Rehab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2880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Rev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" y="30723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facilities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344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ClinicalEdge Outcomes vs. National Avg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188720"/>
            <a:ext cx="1645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1188720"/>
            <a:ext cx="9144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23760" y="1188720"/>
            <a:ext cx="9144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38160" y="1188720"/>
            <a:ext cx="73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1188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1490472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4904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09360" y="1490472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4904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23760" y="1490472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4904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138160" y="1490472"/>
            <a:ext cx="731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14904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1837944"/>
            <a:ext cx="164592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1837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5-Star Facilities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09360" y="1837944"/>
            <a:ext cx="91440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8379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223760" y="1837944"/>
            <a:ext cx="91440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18379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38160" y="1837944"/>
            <a:ext cx="73152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0" y="18379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 ppts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2185416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2185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Satisfaction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09360" y="2185416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185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4.4/5.0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23760" y="2185416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2185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3.8/5.0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138160" y="2185416"/>
            <a:ext cx="731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38160" y="21854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2532888"/>
            <a:ext cx="164592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Turnover (RN)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09360" y="2532888"/>
            <a:ext cx="91440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2532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223760" y="2532888"/>
            <a:ext cx="91440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23760" y="2532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138160" y="2532888"/>
            <a:ext cx="73152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38160" y="25328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63440" y="288036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 Accuracy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309360" y="288036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936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223760" y="288036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376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38160" y="2880360"/>
            <a:ext cx="731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3816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 ppts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43708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ClinicalEdge drives readmission risk scoring, automated MDS capture, referral CRM, and staffing optimization — delivering measurable clinical and financial advantages across all 45 facilities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Post-Acute Care: $220B Market Growing at 6.2% CAGR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554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240280"/>
            <a:ext cx="15544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U.S. Post-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Care Market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914400"/>
            <a:ext cx="1554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240280"/>
            <a:ext cx="15544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554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(2024-2030E)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49040" y="914400"/>
            <a:ext cx="1554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240280"/>
            <a:ext cx="15544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$315B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554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(2030E)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914400"/>
            <a:ext cx="1554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240280"/>
            <a:ext cx="15544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1554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Boomers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65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23760" y="914400"/>
            <a:ext cx="1554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240280"/>
            <a:ext cx="15544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15544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Top 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2468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Demand Drivers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816352"/>
            <a:ext cx="850392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816352"/>
            <a:ext cx="54864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2862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Population: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0" y="286207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cohort grows from 17% to 21% of U.S. population by 2030; post-acute care demand scales directly with age cohort.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200400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200400"/>
            <a:ext cx="54864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246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Pressure: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20240" y="324612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care models incent acute-care hospitals to discharge patients earlier to lower-cost SNF settings.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584448"/>
            <a:ext cx="850392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584448"/>
            <a:ext cx="54864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Opportunity: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20240" y="363016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operators hold only 18% market share; thousands of independent facilities represent M&amp;A targets.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968496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968496"/>
            <a:ext cx="54864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40142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Barriers: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920240" y="401421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Certificate-of-Need requirements in 8 of 9 PrimeHealth states limit competitive new entrants.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Historical Growth with Expanding Margins (FY2022-FY2024)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($M)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40560"/>
            <a:ext cx="822960" cy="1276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1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1510132"/>
            <a:ext cx="822960" cy="15073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2815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241298"/>
            <a:ext cx="822960" cy="177622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1269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657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68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($M) &amp; Margin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997050"/>
            <a:ext cx="822960" cy="102047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7642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$18.6M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77759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1777594"/>
            <a:ext cx="822960" cy="123992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35697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$22.6M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55813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7220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0" y="1481328"/>
            <a:ext cx="822960" cy="15361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060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$28.0M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12618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98080" y="3044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3657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246120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91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(FY22-FY24)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593592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393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CAGR (FY22-FY24)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639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941064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98678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(FY2024)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3986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88536"/>
            <a:ext cx="8503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3342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(FY2024)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43342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$14.1M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Payor Mix &amp; Revenue Quality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Medicare-Anchored with Premium Per Diem Rates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67715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6771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97196" y="914400"/>
            <a:ext cx="595274" cy="5029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7196" y="914400"/>
            <a:ext cx="5952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92470" y="914400"/>
            <a:ext cx="2381098" cy="50292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2470" y="914400"/>
            <a:ext cx="2381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73568" y="914400"/>
            <a:ext cx="850392" cy="50292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914400"/>
            <a:ext cx="850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20116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727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31720" y="1572768"/>
            <a:ext cx="6400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1572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Mix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71800" y="1572768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727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Per Diem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69080" y="1572768"/>
            <a:ext cx="9144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15727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Natl Avg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83480" y="1572768"/>
            <a:ext cx="8229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5727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06440" y="1572768"/>
            <a:ext cx="11887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572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1892808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1892808"/>
            <a:ext cx="54864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947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(Traditional)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1892808"/>
            <a:ext cx="640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19476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71800" y="18928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19476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$610/day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69080" y="1892808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1947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$570/day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83480" y="1892808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19476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06440" y="1892808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19476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+3-4%/yr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2276856"/>
            <a:ext cx="201168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276856"/>
            <a:ext cx="54864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331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331720" y="2276856"/>
            <a:ext cx="64008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2331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71800" y="2276856"/>
            <a:ext cx="109728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71800" y="2331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$540/day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69080" y="2276856"/>
            <a:ext cx="9144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9080" y="2331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$500/day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983480" y="2276856"/>
            <a:ext cx="82296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2331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806440" y="2276856"/>
            <a:ext cx="118872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2331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+8-10%/yr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2660904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2660904"/>
            <a:ext cx="54864" cy="34747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27157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331720" y="2660904"/>
            <a:ext cx="640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2715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971800" y="2660904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71800" y="2715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$240/day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069080" y="266090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69080" y="2715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$235/day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83480" y="2660904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806440" y="266090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27157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+1-2%/yr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0040" y="3044952"/>
            <a:ext cx="201168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3044952"/>
            <a:ext cx="54864" cy="34747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30998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Commercial/Other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331720" y="3044952"/>
            <a:ext cx="64008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31720" y="3099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971800" y="3044952"/>
            <a:ext cx="109728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71800" y="3099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$420/day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069080" y="3044952"/>
            <a:ext cx="9144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69080" y="3099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$390/day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983480" y="3044952"/>
            <a:ext cx="82296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83480" y="30998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806440" y="3044952"/>
            <a:ext cx="118872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06440" y="30998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20040" y="3493008"/>
            <a:ext cx="8503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1480" y="352044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Average Daily Rate: $435/day  |  VBP Maximum Positive Adjustment Earned Every Year  |  CMS Staffing Compliance Achieved (4.1 hrs vs. 3.48 hr mandate)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20040" y="404164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-Italic" pitchFamily="34" charset="0"/>
                <a:ea typeface="Calibri-Italic" pitchFamily="34" charset="-122"/>
                <a:cs typeface="Calibri-Italic" pitchFamily="34" charset="-120"/>
              </a:rPr>
              <a:t>Key Risk: CMS reimbursement rate pressure remains the primary regulatory risk. PrimeHealth mitigates via VBP bonus and clinical quality premium positioning.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$304M Revenue and 20%+ EBITDA Margin by FY2027E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5544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74520" y="960120"/>
            <a:ext cx="8229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960120"/>
            <a:ext cx="8229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960120"/>
            <a:ext cx="8686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9601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960120"/>
            <a:ext cx="868680" cy="2926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9601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57800" y="960120"/>
            <a:ext cx="868680" cy="2926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9601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960120"/>
            <a:ext cx="868680" cy="2926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9601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128016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31673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74520" y="128016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13167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128016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3167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20440" y="128016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31673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89120" y="1280160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131673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57800" y="1280160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131673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26480" y="1280160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31673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1627632"/>
            <a:ext cx="155448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166420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74520" y="1627632"/>
            <a:ext cx="82296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166420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97480" y="1627632"/>
            <a:ext cx="82296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166420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20440" y="1627632"/>
            <a:ext cx="86868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89120" y="1627632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57800" y="1627632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1627632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197510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01168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874520" y="1975104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74520" y="201168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697480" y="1975104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201168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520440" y="1975104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0440" y="201168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1975104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201168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257800" y="1975104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7800" y="201168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1975104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201168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0040" y="2322576"/>
            <a:ext cx="155448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235915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74520" y="2322576"/>
            <a:ext cx="82296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74520" y="23591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697480" y="2322576"/>
            <a:ext cx="82296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97480" y="23591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$22.6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520440" y="2322576"/>
            <a:ext cx="86868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20440" y="2359152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389120" y="2322576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2359152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257800" y="2322576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57800" y="2359152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126480" y="2322576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26480" y="2359152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20040" y="267004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270662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874520" y="267004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74520" y="270662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697480" y="267004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697480" y="270662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520440" y="2670048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20440" y="2706624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389120" y="2670048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706624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257800" y="2670048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57800" y="2706624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126480" y="2670048"/>
            <a:ext cx="86868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26480" y="2706624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20040" y="3017520"/>
            <a:ext cx="155448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" y="305409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874520" y="3017520"/>
            <a:ext cx="82296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74520" y="30540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697480" y="3017520"/>
            <a:ext cx="82296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697480" y="30540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520440" y="3017520"/>
            <a:ext cx="868680" cy="320040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520440" y="305409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017520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0" y="305409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257800" y="3017520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257800" y="305409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126480" y="3017520"/>
            <a:ext cx="86868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26480" y="305409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320040" y="34015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 Drivers to 20%+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32004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Optimization (+120 bps)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94560" y="3767328"/>
            <a:ext cx="4153989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0040" y="3950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GPO (+80 bps)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194560" y="3968496"/>
            <a:ext cx="2769326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" y="41513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Mgmt (+60 bps)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194560" y="4169664"/>
            <a:ext cx="2076994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" y="43525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Payor Renegotiation (+70 bps)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2194560" y="4370832"/>
            <a:ext cx="2423160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20040" y="45537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Leverage (+90 bps)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2194560" y="4572000"/>
            <a:ext cx="3115491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from 45 to 72 Facilities Across 8-10 States by FY2027E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325880" cy="10515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7360" y="914400"/>
            <a:ext cx="1325880" cy="10515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(FY2027E)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13258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(Since 2018)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13258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+350 bps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EBITDA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13258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589520" y="914400"/>
            <a:ext cx="13258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89520" y="14447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(Est.)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0040" y="21031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Acquisition Pipeline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450592"/>
            <a:ext cx="21945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2450592"/>
            <a:ext cx="502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24505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17520" y="2450592"/>
            <a:ext cx="502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24505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20440" y="2450592"/>
            <a:ext cx="7772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4505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Rev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97680" y="2450592"/>
            <a:ext cx="12344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4505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2450592"/>
            <a:ext cx="10058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450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2752344"/>
            <a:ext cx="2194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2788920"/>
            <a:ext cx="2194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Bluegrass Care Group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14600" y="2752344"/>
            <a:ext cx="502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27889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017520" y="2752344"/>
            <a:ext cx="502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278892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20440" y="2752344"/>
            <a:ext cx="777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788920"/>
            <a:ext cx="777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97680" y="2752344"/>
            <a:ext cx="1234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2788920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Signed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32120" y="2752344"/>
            <a:ext cx="10058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27889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3063240"/>
            <a:ext cx="219456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" y="3099816"/>
            <a:ext cx="2194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Valley SNF Portfolio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514600" y="3063240"/>
            <a:ext cx="50292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3099816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3063240"/>
            <a:ext cx="50292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099816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520440" y="3063240"/>
            <a:ext cx="7772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3099816"/>
            <a:ext cx="777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97680" y="3063240"/>
            <a:ext cx="12344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3099816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532120" y="3063240"/>
            <a:ext cx="10058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3099816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0040" y="3374136"/>
            <a:ext cx="2194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" y="3410712"/>
            <a:ext cx="2194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Post-Acute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14600" y="3374136"/>
            <a:ext cx="502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14600" y="3410712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017520" y="3374136"/>
            <a:ext cx="502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0" y="3410712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520440" y="3374136"/>
            <a:ext cx="777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20440" y="3410712"/>
            <a:ext cx="777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297680" y="3374136"/>
            <a:ext cx="1234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7680" y="3410712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532120" y="3374136"/>
            <a:ext cx="10058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32120" y="341071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20040" y="3685032"/>
            <a:ext cx="219456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3721608"/>
            <a:ext cx="2194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Regional SNF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14600" y="3685032"/>
            <a:ext cx="50292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14600" y="3721608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017520" y="3685032"/>
            <a:ext cx="50292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0" y="3721608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520440" y="3685032"/>
            <a:ext cx="7772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20440" y="3721608"/>
            <a:ext cx="777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297680" y="3685032"/>
            <a:ext cx="12344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7680" y="3721608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532120" y="3685032"/>
            <a:ext cx="10058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32120" y="372160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20040" y="3995928"/>
            <a:ext cx="2194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4904" y="4032504"/>
            <a:ext cx="2194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 Independent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514600" y="3995928"/>
            <a:ext cx="502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14600" y="4032504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017520" y="3995928"/>
            <a:ext cx="502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17520" y="4032504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520440" y="3995928"/>
            <a:ext cx="777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20440" y="4032504"/>
            <a:ext cx="777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297680" y="3995928"/>
            <a:ext cx="1234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97680" y="4032504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532120" y="3995928"/>
            <a:ext cx="10058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32120" y="4032504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2026E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20040" y="4306824"/>
            <a:ext cx="219456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4904" y="4343400"/>
            <a:ext cx="2194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Cluster Add-On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514600" y="4306824"/>
            <a:ext cx="50292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14600" y="434340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017520" y="4306824"/>
            <a:ext cx="50292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0" y="4343400"/>
            <a:ext cx="502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520440" y="4306824"/>
            <a:ext cx="7772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520440" y="4343400"/>
            <a:ext cx="777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$7M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297680" y="4306824"/>
            <a:ext cx="12344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97680" y="4343400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532120" y="4306824"/>
            <a:ext cx="1005840" cy="283464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532120" y="434340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criteria: Existing markets preferred; 8+ facilities target per state cluster; 6-12x EBITDA entry; 350 bps margin improvement expected within 24 months.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Leadership with Proven Track Record at Scale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  |  PROJECT PINNACLE  |  APRIL 2026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60120"/>
            <a:ext cx="54864" cy="1783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051560"/>
            <a:ext cx="3904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Margaret Collins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1344168"/>
            <a:ext cx="3904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" y="1581912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636776"/>
            <a:ext cx="3867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yrs healthcare ops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Ex-HCA Division President (28 facs, 8,500 employees)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Vanderbilt  |  MBA, Harvard Business School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2011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6012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60120"/>
            <a:ext cx="54864" cy="1783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051560"/>
            <a:ext cx="3904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Haines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344168"/>
            <a:ext cx="3904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91456" y="1581912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636776"/>
            <a:ext cx="3867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yrs healthcare finance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Ex-VP Finance, Kindred Healthcare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+ CFA Charterholder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M&amp;A transactions | 3 capital raises ($180M+ value)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92608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26080"/>
            <a:ext cx="54864" cy="1783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3017520"/>
            <a:ext cx="3904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Nguyen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" y="3310128"/>
            <a:ext cx="3904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" y="3547872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602736"/>
            <a:ext cx="3867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2 platforms 2x+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Ex-LifeCare Holdings (12 to 28 facs in 4 yrs)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9 of 14 PHP acquisitions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of regional cluster strategy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92608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926080"/>
            <a:ext cx="54864" cy="1783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017520"/>
            <a:ext cx="3904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David Park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91456" y="3310128"/>
            <a:ext cx="3904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Medical Officer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91456" y="3547872"/>
            <a:ext cx="3794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602736"/>
            <a:ext cx="3867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Board-certified geriatrician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Fellowship, Johns Hopkins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Ex-Medical Dir., Vanderbilt Univ. Medical Center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peer-reviewed publications on SNF readmission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Value Creation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069080" cy="1828800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069848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density strategy creates referral network advantages and operational leverage. Growing from 45 to 72 facilities drives corporate overhead leverage across a larger revenue base.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1097280"/>
            <a:ext cx="0" cy="15544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60120"/>
            <a:ext cx="4069080" cy="1828800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51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0" y="1069848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ClinicalEdge platform delivers measurable, defensible clinical advantages: 30% lower readmissions, 82% 5-star facilities. Clinical quality = premium reimbursement + referral volume growth.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1097280"/>
            <a:ext cx="0" cy="15544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4069080" cy="1828800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1752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3127248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$220B fragmented market. Top 10 hold only 18% share. 14 acquisitions completed with 350 bps EBITDA improvement track record. 8-target pipeline immediately actionable.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63040" y="3154680"/>
            <a:ext cx="0" cy="15544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017520"/>
            <a:ext cx="4069080" cy="1828800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17520"/>
            <a:ext cx="406908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43600" y="3127248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Boomers turn 65 daily. $220B market growing at 6.2% CAGR. Post-acute demand structurally driven by age, not economic cycles. CON barriers protect incumbents.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3154680"/>
            <a:ext cx="0" cy="15544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— Platform Buyout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PRIMEHEALTH PARTNERS  |  CONFIDENTIAL — FOR DISCUSSION PURPOSES ONLY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VALUE: ~$225 MILLION  |  1.2x FY2024 REVENUE  |  8.0x FY2024 EBITDA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069080" cy="1664208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36192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1837944"/>
            <a:ext cx="3849624" cy="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901952"/>
            <a:ext cx="3849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buyout — 100% control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~$90-100M (40-45% TEV)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Debt: ~$115-125M (4.0-4.5x EBITDA)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rollover: 10-15%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444752"/>
            <a:ext cx="4069080" cy="1664208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36192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837944"/>
            <a:ext cx="3849624" cy="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901952"/>
            <a:ext cx="3849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liquidity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paydown at close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acquisition reserve ($30M)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capex program ($15M)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4069080" cy="1664208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38328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Profile (Base)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3685032"/>
            <a:ext cx="3849624" cy="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749040"/>
            <a:ext cx="3849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FY2027E exit at 10x EBITDA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EV: ~$610M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value: ~$350M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IRR: 38-42%  |  MoM: 3.5-4.0x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4069080" cy="1664208"/>
          </a:xfrm>
          <a:prstGeom prst="rect">
            <a:avLst/>
          </a:prstGeom>
          <a:solidFill>
            <a:srgbClr val="0D223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38328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Timeline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3685032"/>
            <a:ext cx="3849624" cy="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749040"/>
            <a:ext cx="3849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CIM: April 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presentations: May 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bids: May 30, 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bids: July 15, 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Q4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6405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Evercore Healthcare Advisory Group  |  Legal: Ropes &amp; Gray LLP  |  Contact: projectpinnacle@evercore.com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PrimeHealth Partners — Investor Presentation</dc:title>
  <dc:subject>Project Pinnacle — Platform Buyout</dc:subject>
  <dc:creator>Evercore Healthcare Advisory Group</dc:creator>
  <cp:lastModifiedBy>Evercore Healthcare Advisory Group</cp:lastModifiedBy>
  <cp:revision>1</cp:revision>
  <dcterms:created xsi:type="dcterms:W3CDTF">2026-04-19T11:33:01Z</dcterms:created>
  <dcterms:modified xsi:type="dcterms:W3CDTF">2026-04-19T11:33:01Z</dcterms:modified>
</cp:coreProperties>
</file>
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45720" cy="594360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731520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Data Infrastructure Platform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6583680" cy="1920240"/>
          </a:xfrm>
          <a:prstGeom prst="rect">
            <a:avLst/>
          </a:prstGeom>
          <a:solidFill>
            <a:srgbClr val="24366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017520"/>
            <a:ext cx="658368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90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OVERVIEW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401568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Type:         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Buyout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Value:  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~$280M  (6.7x ARR  |  33x EBITDA)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(FY2024):      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$42.0M  |  35% YoY Growth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Headquarters:      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TX  |  Founded 2018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              </a:t>
            </a:r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4114800"/>
            <a:ext cx="3200400" cy="5029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4178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Highlights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879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777240"/>
            <a:ext cx="374904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41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Market-Leading NRR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1430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 NRR — top-quartile enterprise SaaS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or improving 6 consecutive quarters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floor on revenue even in slow new-logo market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77724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879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777240"/>
            <a:ext cx="374904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841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Durable ARR Compounder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11430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$42M ARR, 35% YoY — path to $94M by FY2027E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ARR under multi-year contracts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4-6% annual price escalators embedded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38160" y="77724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879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777240"/>
            <a:ext cx="374904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8412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Exceptional Unit Economics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11430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gross margin, expanding to 82% by FY2027E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21% → 30% over projection period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 score of 56; FCF &gt;70% conversion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29184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879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291840"/>
            <a:ext cx="374904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558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Patented Competitive Moat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6576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 patents on data lineage &amp; pipeline orchestration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replicates full pipeline+governance stack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SLA uptime track record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329184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879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3291840"/>
            <a:ext cx="374904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3558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Proven Management Team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36576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CEO: ex-Snowflake VP Engineering (22 yrs)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CFO: ex-Goldman Sachs TMT; CPA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scaled ARR from $8M to $42M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38160" y="3291840"/>
            <a:ext cx="374904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879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291840"/>
            <a:ext cx="374904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33558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Large &amp; Growing TAM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36576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$48B market in 2024 → $89B by 2028 (17% CAGR)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accelerating data infra investment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38% ICP penetration — clear organic runway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2926080" cy="438912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68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868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271016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624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13624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TX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764792"/>
            <a:ext cx="2926080" cy="438912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562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1856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258568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500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37360" y="2350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Enterprise Accounts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752344"/>
            <a:ext cx="2926080" cy="438912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437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37360" y="28437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$131,000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24612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337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(FY2024)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3736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$42.0M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739896"/>
            <a:ext cx="2926080" cy="438912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313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Growth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37360" y="38313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YoY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233672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3251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37360" y="4325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(FY2024)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727448"/>
            <a:ext cx="2926080" cy="438912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188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37360" y="4818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5221224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53126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37360" y="53126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 Annual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66160" y="777240"/>
            <a:ext cx="83210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8686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6616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is a leading enterprise data infrastructure platform that unifies real-time pipeline orchestration, data governance, and observability in a single integrated solution. Founded in Austin, Texas in 2018, the Company serves 320 Fortune 2000 enterprise accounts and has grown ARR from $8M to $42M over four years.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66160" y="22860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Suite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566160" y="2633472"/>
            <a:ext cx="265176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DataStream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57600" y="3044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 Orchestration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0" y="3401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ARR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2633472"/>
            <a:ext cx="2651760" cy="1188720"/>
          </a:xfrm>
          <a:prstGeom prst="rect">
            <a:avLst/>
          </a:prstGeom>
          <a:solidFill>
            <a:srgbClr val="24366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DataVault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92240" y="3044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Compliance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92240" y="3401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ARR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235440" y="2633472"/>
            <a:ext cx="2651760" cy="1188720"/>
          </a:xfrm>
          <a:prstGeom prst="rect">
            <a:avLst/>
          </a:prstGeom>
          <a:solidFill>
            <a:srgbClr val="C8793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2688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DataPulse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326880" y="3044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Data Quality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326880" y="3401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ARR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566160" y="4005072"/>
            <a:ext cx="1920240" cy="777240"/>
          </a:xfrm>
          <a:prstGeom prst="rect">
            <a:avLst/>
          </a:prstGeom>
          <a:solidFill>
            <a:srgbClr val="24366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66160" y="4005072"/>
            <a:ext cx="19202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0" y="40782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$42M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3566160" y="44165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566160" y="458114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669280" y="4005072"/>
            <a:ext cx="1920240" cy="777240"/>
          </a:xfrm>
          <a:prstGeom prst="rect">
            <a:avLst/>
          </a:prstGeom>
          <a:solidFill>
            <a:srgbClr val="24366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69280" y="4005072"/>
            <a:ext cx="19202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40782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5669280" y="44165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69280" y="458114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772400" y="4005072"/>
            <a:ext cx="1920240" cy="777240"/>
          </a:xfrm>
          <a:prstGeom prst="rect">
            <a:avLst/>
          </a:prstGeom>
          <a:solidFill>
            <a:srgbClr val="24366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72400" y="4005072"/>
            <a:ext cx="19202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0" y="40782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7772400" y="44165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772400" y="458114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875520" y="4005072"/>
            <a:ext cx="1920240" cy="777240"/>
          </a:xfrm>
          <a:prstGeom prst="rect">
            <a:avLst/>
          </a:prstGeom>
          <a:solidFill>
            <a:srgbClr val="24366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875520" y="4005072"/>
            <a:ext cx="19202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875520" y="40782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9875520" y="44165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875520" y="458114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Suite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374904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229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DataStream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 Orchestration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6459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Cloud-native, event-driven pipeline orchestration handling 10B+ events/day at sub-100ms P99 latency. 180+ pre-built connectors across databases, SaaS apps, and cloud warehouses.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3749040" cy="155448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456432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10B+ events/day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Latency: &lt;100ms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Connectors: 180+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Uptime: 99.99%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4736592"/>
            <a:ext cx="3749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773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$23.1M — 55% of total ARR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51960" y="777240"/>
            <a:ext cx="3749040" cy="77724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8229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DataVault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4340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Compliance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43400" y="16459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Patent-protected data lineage tracking and automated policy enforcement. Supports GDPR, CCPA, HIPAA, SOC 2 Type II, and EU Data Act with 400+ pre-built compliance templates.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3108960"/>
            <a:ext cx="3749040" cy="155448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0" y="3456432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Patent: 2 US patents issued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GDPR, CCPA, HIPAA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Templates: 400+ pre-built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Time-to-compliance: &lt;30 days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51960" y="4736592"/>
            <a:ext cx="3749040" cy="347472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4773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$12.6M — 30% of total ARR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29600" y="777240"/>
            <a:ext cx="3749040" cy="77724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8229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DataPulse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2104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Data Quality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21040" y="16459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continuous monitoring of data quality, freshness, volume, and schema consistency. Integrated with DataVault lineage for instant root-cause analysis across multi-hop pipelines.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0" y="3108960"/>
            <a:ext cx="3749040" cy="155448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3456432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types: Volume, Freshness, Schema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ML-based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reduction: 65% avg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Slack, PagerDuty, OpsGenie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0" y="4736592"/>
            <a:ext cx="3749040" cy="34747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4773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$6.3M — 15% of total ARR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7772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Infrastructure: $48B in 2024 → $89B by 2028 (17% CAGR)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365760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" y="2487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enterprise data infrastructure spend globally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51960" y="1325880"/>
            <a:ext cx="3657600" cy="201168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25196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51960" y="2487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5196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2000 with data infra spend &gt;$250K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0" y="1325880"/>
            <a:ext cx="3657600" cy="201168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2960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$2.1B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229600" y="2487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ICP: 850 Fortune 2000 accounts at $131K ACV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493008"/>
            <a:ext cx="1161288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84448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Converging Secular Growth Drivers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977640"/>
            <a:ext cx="3749040" cy="205740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977640"/>
            <a:ext cx="37490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50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Adoption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370832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AI project failures attributed to data quality issues. Every AI initiative requires clean, governed, observable data pipelines.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51960" y="3977640"/>
            <a:ext cx="3749040" cy="205740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1960" y="3977640"/>
            <a:ext cx="37490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4050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Expansion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43400" y="4370832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Data Act (Jan 2025), CCPA, HIPAA enforcement — non-discretionary compliance spend for regulated enterprises.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0" y="3977640"/>
            <a:ext cx="3749040" cy="205740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3977640"/>
            <a:ext cx="37490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4050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 Explosion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4370832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growing 42% annually (IDC). Real-time pipeline infrastructure is mission-critical for operational intelligence.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 by Product (FY2024 ARR: $42.0M)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1234440"/>
            <a:ext cx="4572000" cy="50292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234440"/>
            <a:ext cx="25146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25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DataStream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 $23.1M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2057400"/>
            <a:ext cx="4572000" cy="50292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2057400"/>
            <a:ext cx="1371600" cy="50292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48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DataVault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6304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$12.6M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2880360"/>
            <a:ext cx="4572000" cy="50292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880360"/>
            <a:ext cx="685800" cy="5029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71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DataPulse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297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 $6.3M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Trend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2889504"/>
            <a:ext cx="1005840" cy="7680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6151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703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955280" y="2697480"/>
            <a:ext cx="100584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2423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18120" y="3703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372600" y="2505456"/>
            <a:ext cx="1005840" cy="115214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22311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35440" y="3703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789920" y="2377440"/>
            <a:ext cx="1005840" cy="1280160"/>
          </a:xfrm>
          <a:prstGeom prst="rect">
            <a:avLst/>
          </a:prstGeom>
          <a:solidFill>
            <a:srgbClr val="C8793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52760" y="21031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52760" y="3703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114800"/>
            <a:ext cx="1161288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206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Highlights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572000"/>
            <a:ext cx="2834640" cy="146304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572000"/>
            <a:ext cx="28346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SaaS Subscription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49834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recurring revenue. Annual and multi-year contracts. 4-6% auto-escalators.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55264" y="4572000"/>
            <a:ext cx="2834640" cy="146304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55264" y="4572000"/>
            <a:ext cx="28346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Expand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46704" y="49834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DataStream entry point. 62% of customers use one product — clear expansion runway.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36208" y="4572000"/>
            <a:ext cx="2834640" cy="146304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6208" y="4572000"/>
            <a:ext cx="28346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Direct Sales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27648" y="49834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+ Deloitte / Accenture / AWS channel. 4-6 month sales cycle for new logos.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217152" y="4572000"/>
            <a:ext cx="2834640" cy="146304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17152" y="4572000"/>
            <a:ext cx="2834640" cy="4572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08592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Visibility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308592" y="498348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ARR under multi-year agreements. CAC payback ~14 months.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Snapshot (FY2022 - FY2024)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Gross Profit ($M)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18512"/>
            <a:ext cx="777240" cy="15219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4419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$21.4M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61872" y="2681224"/>
            <a:ext cx="777240" cy="115925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40690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$16.3M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0" y="1721104"/>
            <a:ext cx="777240" cy="21193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4467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$29.8M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90672" y="2218944"/>
            <a:ext cx="777240" cy="162153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194462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$22.8M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886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988568"/>
            <a:ext cx="777240" cy="2851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71424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$40.1M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19472" y="1614424"/>
            <a:ext cx="777240" cy="222605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34010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$31.3M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0" y="3886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274320" cy="1645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7880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4206240"/>
            <a:ext cx="274320" cy="16459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41788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0" y="777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($M) &amp; Margin (%)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3264408"/>
            <a:ext cx="1371600" cy="576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43723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886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0" y="2400300"/>
            <a:ext cx="1371600" cy="1440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21076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283235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3886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058400" y="1152144"/>
            <a:ext cx="1371600" cy="2688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0" y="859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58400" y="1958645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58400" y="3886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617720"/>
            <a:ext cx="2834640" cy="64008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617720"/>
            <a:ext cx="45720" cy="64008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663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YoY ARR Growth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4965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vs FY2023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55264" y="4617720"/>
            <a:ext cx="2834640" cy="64008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55264" y="4617720"/>
            <a:ext cx="45720" cy="64008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92424" y="4663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Gross Margin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92424" y="4965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+190bps vs FY2022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36208" y="4617720"/>
            <a:ext cx="2834640" cy="64008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36208" y="4617720"/>
            <a:ext cx="45720" cy="64008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4663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EBITDA Margin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73368" y="4965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+1,250bps vs FY2022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217152" y="4617720"/>
            <a:ext cx="2834640" cy="640080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17152" y="4617720"/>
            <a:ext cx="45720" cy="64008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54312" y="46634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$6.2M Free Cash Flow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354312" y="4965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FCF Margin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Projections (FY2025E - FY2027E)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ARR ($M) — Base Case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822009"/>
            <a:ext cx="1463040" cy="887151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50196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$23.1M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736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48840" y="3510930"/>
            <a:ext cx="1463040" cy="119823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319089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$31.2M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4736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31920" y="3096158"/>
            <a:ext cx="1463040" cy="161300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77611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4736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15000" y="2558491"/>
            <a:ext cx="1463040" cy="2150669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2238451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4736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98080" y="1886407"/>
            <a:ext cx="1463040" cy="2822753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566367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$73.5M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4736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281160" y="1095268"/>
            <a:ext cx="1463040" cy="361389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7752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$94.1M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89720" y="47365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5074920"/>
            <a:ext cx="274320" cy="1645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0474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45920" y="5074920"/>
            <a:ext cx="274320" cy="16459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65960" y="50474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5532120"/>
            <a:ext cx="45720" cy="54864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55321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Projections represent management base case. Subject to risks including hyperscaler competition, macroeconomic conditions, and go-to-market execution.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961120" y="777240"/>
            <a:ext cx="3621024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850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332720" y="85039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082528" y="85039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832336" y="85039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961120" y="1124712"/>
            <a:ext cx="3621024" cy="347472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120700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($M)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378440" y="120700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$56.0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128248" y="120700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$73.5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878056" y="120700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$94.1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961120" y="1472184"/>
            <a:ext cx="36210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06840" y="15544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378440" y="15544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$53.4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128248" y="15544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$70.0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878056" y="15544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$89.6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961120" y="1819656"/>
            <a:ext cx="3621024" cy="347472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06840" y="19019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($M)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378440" y="19019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$12.8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128248" y="19019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$18.9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878056" y="190195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$26.9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961120" y="2167128"/>
            <a:ext cx="362102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06840" y="224942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378440" y="224942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1128248" y="224942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1878056" y="224942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961120" y="2514600"/>
            <a:ext cx="3621024" cy="347472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06840" y="2596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($M)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378440" y="259689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$9.7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1128248" y="259689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878056" y="259689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Team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566928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777240"/>
            <a:ext cx="54864" cy="265176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8869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Whitfield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" y="12527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 &amp; Co-Founder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5544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Ex-Snowflake VP Engineering (7 yrs). Scaled Snowflake from 500 to 5,000 enterprise customers. Prior: Oracle, Teradata.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963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Science, MIT  |  MBA, Stanford GSB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" y="2834640"/>
            <a:ext cx="539496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2834640"/>
            <a:ext cx="36576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0779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Years Enterprise Tech Experience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777240"/>
            <a:ext cx="566928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777240"/>
            <a:ext cx="54864" cy="265176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8869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Mehta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28232" y="12527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28232" y="15544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Ex-Goldman Sachs TMT Investment Banking (9 yrs). Advised on $12B+ in M&amp;A and ECM transactions. Built Nexus SaaS finance infrastructure.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28232" y="249631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Finance, Wharton  |  CPA Certified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28232" y="2834640"/>
            <a:ext cx="539496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8232" y="2834640"/>
            <a:ext cx="36576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90779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$12B+ M&amp;A Advisory Experience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566928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57600"/>
            <a:ext cx="54864" cy="265176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76732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Torres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8912" y="4133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Technology Officer &amp; Co-Founder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" y="44348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Ex-Databricks Principal Engineer (Delta Lake ACID engine). Named inventor on all 3 Nexus US patents. Leads 45-person R&amp;D organization.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" y="537667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Computer Science (Distributed Systems), Carnegie Mellon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8912" y="5715000"/>
            <a:ext cx="539496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" y="5715000"/>
            <a:ext cx="36576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7881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 Patents Issued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3657600"/>
            <a:ext cx="5669280" cy="2651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3657600"/>
            <a:ext cx="54864" cy="2651760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76732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Kim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28232" y="4133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Revenue Officer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28232" y="44348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Nexus ARR from $8M to $42M (5x in 4 years). Built enterprise sales org from 3 to 42 quota-carriers. Prior: MuleSoft, Segment.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28232" y="537667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Economics, Duke University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28232" y="5715000"/>
            <a:ext cx="5394960" cy="384048"/>
          </a:xfrm>
          <a:prstGeom prst="rect">
            <a:avLst/>
          </a:prstGeom>
          <a:solidFill>
            <a:srgbClr val="F5F6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28232" y="5715000"/>
            <a:ext cx="36576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57881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$8M to $42M ARR Growth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7772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Comparison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116128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61872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46120" y="12618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17720" y="12618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Fivetran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06440" y="12618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78040" y="12618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549640" y="12618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536192"/>
            <a:ext cx="11612880" cy="420624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64592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 (10B+ evt/day)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6120" y="16459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164592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6440" y="16459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8040" y="16459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49640" y="16459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1956816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06654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Policy Enforcement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206654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7720" y="206654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06440" y="206654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78040" y="206654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49640" y="206654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377440"/>
            <a:ext cx="11612880" cy="420624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48716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Patent-Protected Data Lineage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46120" y="2487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7720" y="248716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2487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78040" y="2487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49640" y="2487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798064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90779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Data Quality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46120" y="29077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17720" y="29077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06440" y="29077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78040" y="29077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49640" y="29077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218688"/>
            <a:ext cx="11612880" cy="420624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32841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/ Vendor-Neutral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46120" y="332841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17720" y="332841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06440" y="332841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78040" y="332841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49640" y="332841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639312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7490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 SLA Uptime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46120" y="3749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17720" y="374904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06440" y="3749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78040" y="3749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549640" y="3749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" y="4059936"/>
            <a:ext cx="11612880" cy="420624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1696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GDPR/CCPA Audit-Ready Lineage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46120" y="41696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617720" y="416966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806440" y="41696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178040" y="41696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549640" y="41696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448056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59028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Integrated Platform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246120" y="45902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617720" y="45902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806440" y="45902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178040" y="45902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549640" y="45902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00400" y="1170432"/>
            <a:ext cx="1371600" cy="3730752"/>
          </a:xfrm>
          <a:prstGeom prst="rect">
            <a:avLst/>
          </a:prstGeom>
          <a:solidFill>
            <a:srgbClr val="F0F4FF"/>
          </a:solidFill>
          <a:ln w="19050">
            <a:solidFill>
              <a:srgbClr val="C8793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46120" y="164592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246120" y="206654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246120" y="24871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3246120" y="29077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246120" y="332841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246120" y="374904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246120" y="41696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3246120" y="459028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Value Creation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65760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08760"/>
            <a:ext cx="5486400" cy="214884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08760"/>
            <a:ext cx="5486400" cy="54864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002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25880" y="1691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ARR Compounder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 NRR + 35% new-logo growth = compounding ARR flywheel. Multi-year contracts with embedded price escalators provide high revenue visibility and floor on downside scenarios.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5486400" cy="214884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508760"/>
            <a:ext cx="5486400" cy="54864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6002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269480" y="1691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Margin Profile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24028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margins expanding from 21% to 30%+ as revenue scales against a largely fixed cost base. FCF conversion &gt;70% funds organic reinvestment without dilution.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5486400" cy="214884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886200"/>
            <a:ext cx="5486400" cy="54864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776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32588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Underpenetrated Market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ICP penetration in an 850-account Fortune 2000 universe. EMEA expansion (Q3 2026) adds an entirely new geography. AI tailwinds accelerating data infrastructure investment.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886200"/>
            <a:ext cx="5486400" cy="214884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3886200"/>
            <a:ext cx="5486400" cy="54864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9776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7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269480" y="4069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Technical Moat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461772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Patent-protected lineage engine + deep integration switching costs + 99.99% SLA track record. No point solution can replicate the unified pipeline+governance+observability platform.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45352"/>
            <a:ext cx="12188952" cy="27432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81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DATAOPS  |  CONFIDENTIAL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0" y="6281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Terms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548640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07008"/>
            <a:ext cx="5486400" cy="438912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98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Buyout (Majority Recap)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682496"/>
            <a:ext cx="54864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739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1773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~$280M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157984"/>
            <a:ext cx="5486400" cy="438912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94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/ ARR (FY2024)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2249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633472"/>
            <a:ext cx="54864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249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/ EBITDA (FY2024)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27249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5486400" cy="438912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Equity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~$168M (60% of EV)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584448"/>
            <a:ext cx="54864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758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Debt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3675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~$112M (2.7x gross leverage)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059936"/>
            <a:ext cx="5486400" cy="438912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51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Mgmt. Rollover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41513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to roll 40-60% of proceeds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535424"/>
            <a:ext cx="54864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6268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Pool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51760" y="46268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 post-close option pool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010912"/>
            <a:ext cx="5486400" cy="438912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1023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Close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51760" y="5102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Proceeds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09360" y="1115568"/>
            <a:ext cx="548640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1207008"/>
            <a:ext cx="5577840" cy="749808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1207008"/>
            <a:ext cx="54864" cy="749808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5664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 Liquidity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55664" y="15910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proceeds  —  Primary proceeds to existing investors and founders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2029968"/>
            <a:ext cx="5577840" cy="749808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2029968"/>
            <a:ext cx="54864" cy="749808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55664" y="2103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Capital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55664" y="24140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proceeds  —  EMEA expansion, S&amp;M headcount, product R&amp;D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9360" y="2852928"/>
            <a:ext cx="5577840" cy="749808"/>
          </a:xfrm>
          <a:prstGeom prst="rect">
            <a:avLst/>
          </a:prstGeom>
          <a:solidFill>
            <a:srgbClr val="F5F6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2852928"/>
            <a:ext cx="54864" cy="749808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55664" y="2926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Reserve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55664" y="32369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proceeds  —  Bolt-on acquisitions in data catalog / MDM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0936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309360" y="4087368"/>
            <a:ext cx="5486400" cy="36576"/>
          </a:xfrm>
          <a:prstGeom prst="rect">
            <a:avLst/>
          </a:prstGeom>
          <a:solidFill>
            <a:srgbClr val="C8793E"/>
          </a:solidFill>
          <a:ln w="12700">
            <a:solidFill>
              <a:srgbClr val="C8793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4178808"/>
            <a:ext cx="34747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423367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20840" y="42336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NDA and receive full CIM + financial model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09360" y="4553712"/>
            <a:ext cx="34747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4608576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720840" y="460857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presentation (virtual or Austin HQ)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09360" y="4928616"/>
            <a:ext cx="34747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498348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720840" y="49834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non-binding Letter of Intent (LOI)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09360" y="5303520"/>
            <a:ext cx="34747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5358384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720840" y="535838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 period — full diligence access (VDR)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09360" y="5678424"/>
            <a:ext cx="347472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5733288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720840" y="573328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Definitive Agreement and targeted Q3 2026 close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2026-04-19T11:28:32Z</dcterms:created>
  <dcterms:modified xsi:type="dcterms:W3CDTF">2026-04-19T11:28:32Z</dcterms:modified>
</cp:coreProperties>
</file>